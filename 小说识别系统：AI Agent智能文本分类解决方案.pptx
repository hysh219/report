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321" y="4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大家好，今天我将向大家介绍我们的最新研究成果——小说识别系统。这是一个基于前沿AI Agent技术的智能文本分类解决方案，旨在应对数字化阅读时代的信息过载挑战，通过深度内容理解，革新小说内容的分类与推荐方式。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我们将探讨项目的背景与面临的挑战。接着，详细介绍我们的技术方案与系统架构。之后，会展示项目的实施过程与团队协作。第四部分，将重点呈现我们的测试成果与业务价值。最后，对项目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首先，让我们进入第一部分，了解我们为什么要做这个项目，以及我们面临的市场背景和技术挑战。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正处在一个数字化阅读的黄金时代。数据显示，网络小说用户已超5亿，市场规模突破500亿。然而，海量内容也带来了“信息过载”的困境。用户难以找到喜欢的内容，平台也面临着内容管理和精准推荐的巨大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传统的内容处理方法，无论是关键词匹配、规则引擎还是简单的机器学习模型，都存在明显的局限性。它们普遍缺乏对文本内容的深度理解，导致推荐精准度低，无法满足用户个性化需求。这正是我们技术方案要解决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接下来，我将详细介绍我们为解决这些挑战而设计的技术方案与系统架构。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我们的核心思路是构建一个AI Agent，它能像人类专家一样深度理解小说内容，自主学习新知识，并做出智能决策。这从根本上区别于传统方法，实现了从“匹配”到“理解”的跨越。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为了实现这一目标，我们整合了多项前沿AI技术。自然语言处理是基础，深度学习是核心驱动力，知识图谱增强了模型的理解深度，而迁移学习则让我们能够高效地利用海量通用数据来提升特定任务的性能。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我们的系统采用了分层解耦的架构设计。从底层的数据层，到预处理层，再到核心的模型层，最后通过应用层将能力转化为实际业务价值。这种设计保证了系统的高内聚、低耦合，便于维护和未来扩展。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一个成功的项目离不开优秀的团队和科学的实施过程。在第三部分，我将介绍我们的跨学科团队以及高质量数据集的构建过程。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我们的团队汇聚了项目管理、算法、数据、前端和文学领域的专家。这种跨学科的协作模式，确保了我们的技术方案不仅先进，而且紧密贴合实际业务需求和文学领域的专业认知。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我们构建了一个包含50万篇小说、覆盖20个大类的高质量数据集。从数据收集、清洗、标注到增强，每一步都遵循科学严谨的流程，为模型的训练提供了坚实的基础。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那么，我们的系统实际表现如何呢？在第四部分，我将展示我们科学的测试方案和令人振奋的成果。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测试结果非常理想。我们的模型平均F1值达到了92.3%，与专家判断的Kappa系数高达0.87。更重要的是，在实际应用中，它帮助平台实现了23.5%的点击率提升和18.2%的阅读时长增加，展现了巨大的商业价值。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最后，让我们对项目进行总结，并展望未来的发展方向。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总结来说，本项目成功验证了AI Agent架构在复杂文本分析中的巨大潜力。同时，我们也看到了未来的发展方向，包括支持多语言、实现持续学习、进行深度情感分析以及增强知识融合。我们相信，这个系统将在未来发挥更大的价值。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jpe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jpe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jpe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png"/><Relationship Id="rId11" Type="http://schemas.openxmlformats.org/officeDocument/2006/relationships/image" Target="../media/image22.svg"/><Relationship Id="rId5" Type="http://schemas.openxmlformats.org/officeDocument/2006/relationships/image" Target="../media/image20.svg"/><Relationship Id="rId10" Type="http://schemas.openxmlformats.org/officeDocument/2006/relationships/image" Target="../media/image21.png"/><Relationship Id="rId4" Type="http://schemas.openxmlformats.org/officeDocument/2006/relationships/image" Target="../media/image19.png"/><Relationship Id="rId9" Type="http://schemas.openxmlformats.org/officeDocument/2006/relationships/image" Target="../media/image11.sv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3.png"/><Relationship Id="rId11" Type="http://schemas.openxmlformats.org/officeDocument/2006/relationships/image" Target="../media/image28.svg"/><Relationship Id="rId5" Type="http://schemas.openxmlformats.org/officeDocument/2006/relationships/image" Target="../media/image24.sv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9.jpeg"/></Relationships>
</file>

<file path=ppt/slides/_rels/slide1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jpe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jpeg"/><Relationship Id="rId7"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3" Type="http://schemas.openxmlformats.org/officeDocument/2006/relationships/image" Target="../media/image2.jpeg"/><Relationship Id="rId7" Type="http://schemas.openxmlformats.org/officeDocument/2006/relationships/image" Target="../media/image42.svg"/><Relationship Id="rId12" Type="http://schemas.openxmlformats.org/officeDocument/2006/relationships/image" Target="../media/image47.png"/><Relationship Id="rId17" Type="http://schemas.openxmlformats.org/officeDocument/2006/relationships/image" Target="../media/image16.svg"/><Relationship Id="rId2" Type="http://schemas.openxmlformats.org/officeDocument/2006/relationships/notesSlide" Target="../notesSlides/notesSlide16.xml"/><Relationship Id="rId16"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5.svg"/><Relationship Id="rId15" Type="http://schemas.openxmlformats.org/officeDocument/2006/relationships/image" Target="../media/image50.svg"/><Relationship Id="rId10" Type="http://schemas.openxmlformats.org/officeDocument/2006/relationships/image" Target="../media/image45.png"/><Relationship Id="rId4" Type="http://schemas.openxmlformats.org/officeDocument/2006/relationships/image" Target="../media/image4.png"/><Relationship Id="rId9" Type="http://schemas.openxmlformats.org/officeDocument/2006/relationships/image" Target="../media/image44.svg"/><Relationship Id="rId1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小说识别系统</a:t>
            </a:r>
            <a:endParaRPr lang="en-US" sz="1100"/>
          </a:p>
        </p:txBody>
      </p:sp>
      <p:sp>
        <p:nvSpPr>
          <p:cNvPr id="4" name="AutoShape 4"/>
          <p:cNvSpPr/>
          <p:nvPr/>
        </p:nvSpPr>
        <p:spPr>
          <a:xfrm>
            <a:off x="0" y="3429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a:solidFill>
                  <a:srgbClr val="D4A574"/>
                </a:solidFill>
                <a:latin typeface="Noto Sans SC"/>
                <a:ea typeface="Noto Sans SC"/>
                <a:cs typeface="Noto Sans SC"/>
                <a:sym typeface="Noto Sans SC"/>
              </a:rPr>
              <a:t>基于AI Agent的智能文本分类解决方案</a:t>
            </a:r>
            <a:endParaRPr lang="en-US" sz="1100"/>
          </a:p>
        </p:txBody>
      </p:sp>
      <p:sp>
        <p:nvSpPr>
          <p:cNvPr id="5" name="AutoShape 5"/>
          <p:cNvSpPr/>
          <p:nvPr/>
        </p:nvSpPr>
        <p:spPr>
          <a:xfrm>
            <a:off x="5588000" y="4826000"/>
            <a:ext cx="1016000" cy="508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6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alpha val="85098"/>
                  </a:srgbClr>
                </a:solidFill>
                <a:latin typeface="Noto Sans SC"/>
                <a:ea typeface="Noto Sans SC"/>
                <a:cs typeface="Noto Sans SC"/>
                <a:sym typeface="Noto Sans SC"/>
              </a:rPr>
              <a:t>汇报人</a:t>
            </a:r>
            <a:r>
              <a:rPr lang="en-US" sz="1800" b="0" i="0" u="none" strike="noStrike" dirty="0">
                <a:solidFill>
                  <a:srgbClr val="FFFFFF">
                    <a:alpha val="85098"/>
                  </a:srgbClr>
                </a:solidFill>
                <a:latin typeface="Noto Sans SC"/>
                <a:ea typeface="Noto Sans SC"/>
                <a:cs typeface="Noto Sans SC"/>
                <a:sym typeface="Noto Sans SC"/>
              </a:rPr>
              <a:t>：</a:t>
            </a:r>
            <a:r>
              <a:rPr lang="zh-CN" altLang="en-US" sz="1800" dirty="0">
                <a:solidFill>
                  <a:srgbClr val="FFFFFF">
                    <a:alpha val="85098"/>
                  </a:srgbClr>
                </a:solidFill>
                <a:latin typeface="Noto Sans SC"/>
                <a:ea typeface="Noto Sans SC"/>
                <a:cs typeface="Noto Sans SC"/>
                <a:sym typeface="Noto Sans SC"/>
              </a:rPr>
              <a:t>何国涛</a:t>
            </a:r>
            <a:r>
              <a:rPr lang="en-US" sz="1800" b="0" i="0" u="none" strike="noStrike">
                <a:solidFill>
                  <a:srgbClr val="FFFFFF">
                    <a:alpha val="85098"/>
                  </a:srgbClr>
                </a:solidFill>
                <a:latin typeface="Noto Sans SC"/>
                <a:ea typeface="Noto Sans SC"/>
                <a:cs typeface="Noto Sans SC"/>
                <a:sym typeface="Noto Sans SC"/>
              </a:rPr>
              <a:t> </a:t>
            </a:r>
            <a:r>
              <a:rPr lang="en-US" sz="1800" b="0" i="0" u="none" strike="noStrike" dirty="0">
                <a:solidFill>
                  <a:srgbClr val="FFFFFF">
                    <a:alpha val="85098"/>
                  </a:srgbClr>
                </a:solidFill>
                <a:latin typeface="Noto Sans SC"/>
                <a:ea typeface="Noto Sans SC"/>
                <a:cs typeface="Noto Sans SC"/>
                <a:sym typeface="Noto Sans SC"/>
              </a:rPr>
              <a:t>| </a:t>
            </a:r>
            <a:r>
              <a:rPr lang="en-US" sz="1800" b="0" i="0" u="none" strike="noStrike">
                <a:solidFill>
                  <a:srgbClr val="FFFFFF">
                    <a:alpha val="85098"/>
                  </a:srgbClr>
                </a:solidFill>
                <a:latin typeface="Noto Sans SC"/>
                <a:ea typeface="Noto Sans SC"/>
                <a:cs typeface="Noto Sans SC"/>
                <a:sym typeface="Noto Sans SC"/>
              </a:rPr>
              <a:t>2026年</a:t>
            </a:r>
            <a:r>
              <a:rPr lang="en-US" sz="1800">
                <a:solidFill>
                  <a:srgbClr val="FFFFFF">
                    <a:alpha val="85098"/>
                  </a:srgbClr>
                </a:solidFill>
                <a:latin typeface="Noto Sans SC"/>
                <a:ea typeface="Noto Sans SC"/>
                <a:cs typeface="Noto Sans SC"/>
                <a:sym typeface="Noto Sans SC"/>
              </a:rPr>
              <a:t>5</a:t>
            </a:r>
            <a:r>
              <a:rPr lang="en-US" sz="1800" b="0" i="0" u="none" strike="noStrike">
                <a:solidFill>
                  <a:srgbClr val="FFFFFF">
                    <a:alpha val="85098"/>
                  </a:srgbClr>
                </a:solidFill>
                <a:latin typeface="Noto Sans SC"/>
                <a:ea typeface="Noto Sans SC"/>
                <a:cs typeface="Noto Sans SC"/>
                <a:sym typeface="Noto Sans SC"/>
              </a:rPr>
              <a:t>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目录</a:t>
            </a:r>
            <a:r>
              <a:rPr lang="en-US" sz="2800" b="1" i="0" u="none" strike="noStrike">
                <a:solidFill>
                  <a:srgbClr val="D4A574"/>
                </a:solidFill>
                <a:latin typeface="Noto Sans SC"/>
                <a:ea typeface="Noto Sans SC"/>
                <a:cs typeface="Noto Sans SC"/>
                <a:sym typeface="Noto Sans SC"/>
              </a:rPr>
              <a:t>CONTENTS</a:t>
            </a:r>
            <a:endParaRPr lang="en-US" sz="1100"/>
          </a:p>
        </p:txBody>
      </p:sp>
      <p:sp>
        <p:nvSpPr>
          <p:cNvPr id="4" name="AutoShape 4"/>
          <p:cNvSpPr/>
          <p:nvPr/>
        </p:nvSpPr>
        <p:spPr>
          <a:xfrm>
            <a:off x="762000" y="1905000"/>
            <a:ext cx="2133600" cy="2286000"/>
          </a:xfrm>
          <a:prstGeom prst="roundRect">
            <a:avLst>
              <a:gd name="adj" fmla="val 476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2159000"/>
            <a:ext cx="21336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D4A574"/>
                </a:solidFill>
                <a:latin typeface="Noto Sans SC"/>
                <a:ea typeface="Noto Sans SC"/>
                <a:cs typeface="Noto Sans SC"/>
                <a:sym typeface="Noto Sans SC"/>
              </a:rPr>
              <a:t>01</a:t>
            </a:r>
            <a:endParaRPr lang="en-US" sz="1100"/>
          </a:p>
        </p:txBody>
      </p:sp>
      <p:sp>
        <p:nvSpPr>
          <p:cNvPr id="6" name="AutoShape 6"/>
          <p:cNvSpPr/>
          <p:nvPr/>
        </p:nvSpPr>
        <p:spPr>
          <a:xfrm>
            <a:off x="762000" y="3048000"/>
            <a:ext cx="21336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a:ea typeface="Noto Sans SC"/>
                <a:cs typeface="Noto Sans SC"/>
                <a:sym typeface="Noto Sans SC"/>
              </a:rPr>
              <a:t>项目背景与挑战</a:t>
            </a:r>
            <a:endParaRPr lang="en-US" sz="1100"/>
          </a:p>
        </p:txBody>
      </p:sp>
      <p:sp>
        <p:nvSpPr>
          <p:cNvPr id="7" name="AutoShape 7"/>
          <p:cNvSpPr/>
          <p:nvPr/>
        </p:nvSpPr>
        <p:spPr>
          <a:xfrm>
            <a:off x="693761" y="3558275"/>
            <a:ext cx="21336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dirty="0" err="1">
                <a:solidFill>
                  <a:srgbClr val="666666"/>
                </a:solidFill>
                <a:latin typeface="Noto Sans SC"/>
                <a:ea typeface="Noto Sans SC"/>
                <a:cs typeface="Noto Sans SC"/>
                <a:sym typeface="Noto Sans SC"/>
              </a:rPr>
              <a:t>数字化阅读浪潮与</a:t>
            </a:r>
            <a:br>
              <a:rPr lang="en-US" sz="1200" b="0" i="0" u="none" strike="noStrike" dirty="0">
                <a:solidFill>
                  <a:srgbClr val="666666"/>
                </a:solidFill>
                <a:latin typeface="Noto Sans SC"/>
                <a:ea typeface="Noto Sans SC"/>
                <a:cs typeface="Noto Sans SC"/>
                <a:sym typeface="Noto Sans SC"/>
              </a:rPr>
            </a:br>
            <a:r>
              <a:rPr lang="en-US" sz="1200" b="0" i="0" u="none" strike="noStrike" dirty="0" err="1">
                <a:solidFill>
                  <a:srgbClr val="666666"/>
                </a:solidFill>
                <a:latin typeface="Noto Sans SC"/>
                <a:ea typeface="Noto Sans SC"/>
                <a:cs typeface="Noto Sans SC"/>
                <a:sym typeface="Noto Sans SC"/>
              </a:rPr>
              <a:t>传统方法的局限性</a:t>
            </a:r>
            <a:endParaRPr lang="en-US" sz="1100" dirty="0"/>
          </a:p>
        </p:txBody>
      </p:sp>
      <p:sp>
        <p:nvSpPr>
          <p:cNvPr id="8" name="AutoShape 8"/>
          <p:cNvSpPr/>
          <p:nvPr/>
        </p:nvSpPr>
        <p:spPr>
          <a:xfrm>
            <a:off x="3414215" y="2032000"/>
            <a:ext cx="2133600" cy="2286000"/>
          </a:xfrm>
          <a:prstGeom prst="roundRect">
            <a:avLst>
              <a:gd name="adj" fmla="val 476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3352800" y="2159000"/>
            <a:ext cx="21336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D4A574"/>
                </a:solidFill>
                <a:latin typeface="Noto Sans SC"/>
                <a:ea typeface="Noto Sans SC"/>
                <a:cs typeface="Noto Sans SC"/>
                <a:sym typeface="Noto Sans SC"/>
              </a:rPr>
              <a:t>02</a:t>
            </a:r>
            <a:endParaRPr lang="en-US" sz="1100"/>
          </a:p>
        </p:txBody>
      </p:sp>
      <p:sp>
        <p:nvSpPr>
          <p:cNvPr id="10" name="AutoShape 10"/>
          <p:cNvSpPr/>
          <p:nvPr/>
        </p:nvSpPr>
        <p:spPr>
          <a:xfrm>
            <a:off x="3352800" y="3048000"/>
            <a:ext cx="21336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a:ea typeface="Noto Sans SC"/>
                <a:cs typeface="Noto Sans SC"/>
                <a:sym typeface="Noto Sans SC"/>
              </a:rPr>
              <a:t>技术方案与架构</a:t>
            </a:r>
            <a:endParaRPr lang="en-US" sz="1100"/>
          </a:p>
        </p:txBody>
      </p:sp>
      <p:sp>
        <p:nvSpPr>
          <p:cNvPr id="11" name="AutoShape 11"/>
          <p:cNvSpPr/>
          <p:nvPr/>
        </p:nvSpPr>
        <p:spPr>
          <a:xfrm>
            <a:off x="3345976" y="3644900"/>
            <a:ext cx="21336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dirty="0">
                <a:solidFill>
                  <a:srgbClr val="666666"/>
                </a:solidFill>
                <a:latin typeface="Noto Sans SC"/>
                <a:ea typeface="Noto Sans SC"/>
                <a:cs typeface="Noto Sans SC"/>
                <a:sym typeface="Noto Sans SC"/>
              </a:rPr>
              <a:t>AI </a:t>
            </a:r>
            <a:r>
              <a:rPr lang="en-US" sz="1200" b="0" i="0" u="none" strike="noStrike" dirty="0" err="1">
                <a:solidFill>
                  <a:srgbClr val="666666"/>
                </a:solidFill>
                <a:latin typeface="Noto Sans SC"/>
                <a:ea typeface="Noto Sans SC"/>
                <a:cs typeface="Noto Sans SC"/>
                <a:sym typeface="Noto Sans SC"/>
              </a:rPr>
              <a:t>Agent驱动的智能分析</a:t>
            </a:r>
            <a:br>
              <a:rPr lang="en-US" sz="1200" b="0" i="0" u="none" strike="noStrike" dirty="0">
                <a:solidFill>
                  <a:srgbClr val="666666"/>
                </a:solidFill>
                <a:latin typeface="Noto Sans SC"/>
                <a:ea typeface="Noto Sans SC"/>
                <a:cs typeface="Noto Sans SC"/>
                <a:sym typeface="Noto Sans SC"/>
              </a:rPr>
            </a:br>
            <a:r>
              <a:rPr lang="en-US" sz="1200" b="0" i="0" u="none" strike="noStrike" dirty="0" err="1">
                <a:solidFill>
                  <a:srgbClr val="666666"/>
                </a:solidFill>
                <a:latin typeface="Noto Sans SC"/>
                <a:ea typeface="Noto Sans SC"/>
                <a:cs typeface="Noto Sans SC"/>
                <a:sym typeface="Noto Sans SC"/>
              </a:rPr>
              <a:t>框架与核心技术</a:t>
            </a:r>
            <a:endParaRPr lang="en-US" sz="1100" dirty="0"/>
          </a:p>
        </p:txBody>
      </p:sp>
      <p:sp>
        <p:nvSpPr>
          <p:cNvPr id="12" name="AutoShape 12"/>
          <p:cNvSpPr/>
          <p:nvPr/>
        </p:nvSpPr>
        <p:spPr>
          <a:xfrm>
            <a:off x="6005015" y="2079578"/>
            <a:ext cx="2133600" cy="2286000"/>
          </a:xfrm>
          <a:prstGeom prst="roundRect">
            <a:avLst>
              <a:gd name="adj" fmla="val 476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5943600" y="2159000"/>
            <a:ext cx="21336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D4A574"/>
                </a:solidFill>
                <a:latin typeface="Noto Sans SC"/>
                <a:ea typeface="Noto Sans SC"/>
                <a:cs typeface="Noto Sans SC"/>
                <a:sym typeface="Noto Sans SC"/>
              </a:rPr>
              <a:t>03</a:t>
            </a:r>
            <a:endParaRPr lang="en-US" sz="1100"/>
          </a:p>
        </p:txBody>
      </p:sp>
      <p:sp>
        <p:nvSpPr>
          <p:cNvPr id="14" name="AutoShape 14"/>
          <p:cNvSpPr/>
          <p:nvPr/>
        </p:nvSpPr>
        <p:spPr>
          <a:xfrm>
            <a:off x="5943600" y="3048000"/>
            <a:ext cx="21336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333333"/>
                </a:solidFill>
                <a:latin typeface="Noto Sans SC"/>
                <a:ea typeface="Noto Sans SC"/>
                <a:cs typeface="Noto Sans SC"/>
                <a:sym typeface="Noto Sans SC"/>
              </a:rPr>
              <a:t>项目实施与团队</a:t>
            </a:r>
            <a:endParaRPr lang="en-US" sz="1100" dirty="0"/>
          </a:p>
        </p:txBody>
      </p:sp>
      <p:sp>
        <p:nvSpPr>
          <p:cNvPr id="15" name="AutoShape 15"/>
          <p:cNvSpPr/>
          <p:nvPr/>
        </p:nvSpPr>
        <p:spPr>
          <a:xfrm>
            <a:off x="5943600" y="3619500"/>
            <a:ext cx="21336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dirty="0" err="1">
                <a:solidFill>
                  <a:srgbClr val="666666"/>
                </a:solidFill>
                <a:latin typeface="Noto Sans SC"/>
                <a:ea typeface="Noto Sans SC"/>
                <a:cs typeface="Noto Sans SC"/>
                <a:sym typeface="Noto Sans SC"/>
              </a:rPr>
              <a:t>跨学科协作与</a:t>
            </a:r>
            <a:br>
              <a:rPr lang="en-US" sz="1200" b="0" i="0" u="none" strike="noStrike" dirty="0">
                <a:solidFill>
                  <a:srgbClr val="666666"/>
                </a:solidFill>
                <a:latin typeface="Noto Sans SC"/>
                <a:ea typeface="Noto Sans SC"/>
                <a:cs typeface="Noto Sans SC"/>
                <a:sym typeface="Noto Sans SC"/>
              </a:rPr>
            </a:br>
            <a:r>
              <a:rPr lang="en-US" sz="1200" b="0" i="0" u="none" strike="noStrike" dirty="0" err="1">
                <a:solidFill>
                  <a:srgbClr val="666666"/>
                </a:solidFill>
                <a:latin typeface="Noto Sans SC"/>
                <a:ea typeface="Noto Sans SC"/>
                <a:cs typeface="Noto Sans SC"/>
                <a:sym typeface="Noto Sans SC"/>
              </a:rPr>
              <a:t>高质量数据集构建</a:t>
            </a:r>
            <a:endParaRPr lang="en-US" sz="1100" dirty="0"/>
          </a:p>
        </p:txBody>
      </p:sp>
      <p:sp>
        <p:nvSpPr>
          <p:cNvPr id="16" name="AutoShape 16"/>
          <p:cNvSpPr/>
          <p:nvPr/>
        </p:nvSpPr>
        <p:spPr>
          <a:xfrm>
            <a:off x="2057400" y="4445000"/>
            <a:ext cx="2133600" cy="2032000"/>
          </a:xfrm>
          <a:prstGeom prst="roundRect">
            <a:avLst>
              <a:gd name="adj" fmla="val 5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2057400" y="4699000"/>
            <a:ext cx="21336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D4A574"/>
                </a:solidFill>
                <a:latin typeface="Noto Sans SC"/>
                <a:ea typeface="Noto Sans SC"/>
                <a:cs typeface="Noto Sans SC"/>
                <a:sym typeface="Noto Sans SC"/>
              </a:rPr>
              <a:t>04</a:t>
            </a:r>
            <a:endParaRPr lang="en-US" sz="1100"/>
          </a:p>
        </p:txBody>
      </p:sp>
      <p:sp>
        <p:nvSpPr>
          <p:cNvPr id="18" name="AutoShape 18"/>
          <p:cNvSpPr/>
          <p:nvPr/>
        </p:nvSpPr>
        <p:spPr>
          <a:xfrm>
            <a:off x="2057400" y="5334000"/>
            <a:ext cx="21336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a:ea typeface="Noto Sans SC"/>
                <a:cs typeface="Noto Sans SC"/>
                <a:sym typeface="Noto Sans SC"/>
              </a:rPr>
              <a:t>测试验证与成果</a:t>
            </a:r>
            <a:endParaRPr lang="en-US" sz="1100"/>
          </a:p>
        </p:txBody>
      </p:sp>
      <p:sp>
        <p:nvSpPr>
          <p:cNvPr id="19" name="AutoShape 19"/>
          <p:cNvSpPr/>
          <p:nvPr/>
        </p:nvSpPr>
        <p:spPr>
          <a:xfrm>
            <a:off x="2057400" y="5842000"/>
            <a:ext cx="2133600" cy="508000"/>
          </a:xfrm>
          <a:prstGeom prst="rect">
            <a:avLst/>
          </a:prstGeom>
          <a:noFill/>
          <a:ln w="12700" cap="flat" cmpd="sng">
            <a:noFill/>
            <a:prstDash val="solid"/>
            <a:round/>
          </a:ln>
        </p:spPr>
        <p:txBody>
          <a:bodyPr vert="horz" wrap="square" lIns="0" tIns="0" rIns="0" bIns="0" rtlCol="0" anchor="ctr" anchorCtr="0"/>
          <a:lstStyle/>
          <a:p>
            <a:pPr indent="0" algn="ctr">
              <a:lnSpc>
                <a:spcPct val="91666"/>
              </a:lnSpc>
              <a:defRPr/>
            </a:pPr>
            <a:r>
              <a:rPr lang="en-US" sz="1200" b="0" i="0" u="none" strike="noStrike">
                <a:solidFill>
                  <a:srgbClr val="666666"/>
                </a:solidFill>
                <a:latin typeface="Noto Sans SC"/>
                <a:ea typeface="Noto Sans SC"/>
                <a:cs typeface="Noto Sans SC"/>
                <a:sym typeface="Noto Sans SC"/>
              </a:rPr>
              <a:t>科学测试方案与</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核心业务价值展示</a:t>
            </a:r>
            <a:endParaRPr lang="en-US" sz="1100"/>
          </a:p>
        </p:txBody>
      </p:sp>
      <p:sp>
        <p:nvSpPr>
          <p:cNvPr id="20" name="AutoShape 20"/>
          <p:cNvSpPr/>
          <p:nvPr/>
        </p:nvSpPr>
        <p:spPr>
          <a:xfrm>
            <a:off x="5943600" y="4445000"/>
            <a:ext cx="2133600" cy="2032000"/>
          </a:xfrm>
          <a:prstGeom prst="roundRect">
            <a:avLst>
              <a:gd name="adj" fmla="val 5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5943600" y="4699000"/>
            <a:ext cx="21336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D4A574"/>
                </a:solidFill>
                <a:latin typeface="Noto Sans SC"/>
                <a:ea typeface="Noto Sans SC"/>
                <a:cs typeface="Noto Sans SC"/>
                <a:sym typeface="Noto Sans SC"/>
              </a:rPr>
              <a:t>05</a:t>
            </a:r>
            <a:endParaRPr lang="en-US" sz="1100"/>
          </a:p>
        </p:txBody>
      </p:sp>
      <p:sp>
        <p:nvSpPr>
          <p:cNvPr id="22" name="AutoShape 22"/>
          <p:cNvSpPr/>
          <p:nvPr/>
        </p:nvSpPr>
        <p:spPr>
          <a:xfrm>
            <a:off x="5943600" y="5334000"/>
            <a:ext cx="21336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333333"/>
                </a:solidFill>
                <a:latin typeface="Noto Sans SC"/>
                <a:ea typeface="Noto Sans SC"/>
                <a:cs typeface="Noto Sans SC"/>
                <a:sym typeface="Noto Sans SC"/>
              </a:rPr>
              <a:t>结论与未来展望</a:t>
            </a:r>
            <a:endParaRPr lang="en-US" sz="1100" dirty="0"/>
          </a:p>
        </p:txBody>
      </p:sp>
      <p:sp>
        <p:nvSpPr>
          <p:cNvPr id="23" name="AutoShape 23"/>
          <p:cNvSpPr/>
          <p:nvPr/>
        </p:nvSpPr>
        <p:spPr>
          <a:xfrm>
            <a:off x="5943600" y="5842000"/>
            <a:ext cx="2133600" cy="508000"/>
          </a:xfrm>
          <a:prstGeom prst="rect">
            <a:avLst/>
          </a:prstGeom>
          <a:noFill/>
          <a:ln w="12700" cap="flat" cmpd="sng">
            <a:noFill/>
            <a:prstDash val="solid"/>
            <a:round/>
          </a:ln>
        </p:spPr>
        <p:txBody>
          <a:bodyPr vert="horz" wrap="square" lIns="0" tIns="0" rIns="0" bIns="0" rtlCol="0" anchor="ctr" anchorCtr="0"/>
          <a:lstStyle/>
          <a:p>
            <a:pPr indent="0" algn="ctr">
              <a:lnSpc>
                <a:spcPct val="91666"/>
              </a:lnSpc>
              <a:defRPr/>
            </a:pPr>
            <a:r>
              <a:rPr lang="en-US" sz="1200" b="0" i="0" u="none" strike="noStrike">
                <a:solidFill>
                  <a:srgbClr val="666666"/>
                </a:solidFill>
                <a:latin typeface="Noto Sans SC"/>
                <a:ea typeface="Noto Sans SC"/>
                <a:cs typeface="Noto Sans SC"/>
                <a:sym typeface="Noto Sans SC"/>
              </a:rPr>
              <a:t>核心研究结论与</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未来发展方向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397000"/>
            <a:ext cx="12192000" cy="190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D4A574"/>
                </a:solidFill>
                <a:latin typeface="Noto Sans SC"/>
                <a:ea typeface="Noto Sans SC"/>
                <a:cs typeface="Noto Sans SC"/>
                <a:sym typeface="Noto Sans SC"/>
              </a:rPr>
              <a:t>01</a:t>
            </a:r>
            <a:endParaRPr lang="en-US" sz="1100"/>
          </a:p>
        </p:txBody>
      </p:sp>
      <p:sp>
        <p:nvSpPr>
          <p:cNvPr id="4" name="AutoShape 4"/>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项目背景与挑战</a:t>
            </a:r>
            <a:endParaRPr lang="en-US" sz="1100"/>
          </a:p>
        </p:txBody>
      </p:sp>
      <p:sp>
        <p:nvSpPr>
          <p:cNvPr id="5" name="AutoShape 5"/>
          <p:cNvSpPr/>
          <p:nvPr/>
        </p:nvSpPr>
        <p:spPr>
          <a:xfrm>
            <a:off x="5588000" y="4826000"/>
            <a:ext cx="1016000" cy="508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334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100">
                <a:solidFill>
                  <a:srgbClr val="6E6E6E"/>
                </a:solidFill>
                <a:latin typeface="Noto Sans SC"/>
                <a:ea typeface="Noto Sans SC"/>
                <a:cs typeface="Noto Sans SC"/>
                <a:sym typeface="Noto Sans SC"/>
              </a:rPr>
              <a:t>BACKGROUND &amp; CHALLENGES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l="12944" r="12944"/>
          <a:stretch>
            <a:fillRect/>
          </a:stretch>
        </p:blipFill>
        <p:spPr>
          <a:xfrm>
            <a:off x="508000" y="1651000"/>
            <a:ext cx="5080000" cy="4572000"/>
          </a:xfrm>
          <a:prstGeom prst="roundRect">
            <a:avLst>
              <a:gd name="adj" fmla="val 4444"/>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096000" y="635000"/>
            <a:ext cx="558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数字化阅读时代的浪潮与困境</a:t>
            </a:r>
            <a:endParaRPr lang="en-US" sz="1100"/>
          </a:p>
        </p:txBody>
      </p:sp>
      <p:sp>
        <p:nvSpPr>
          <p:cNvPr id="5" name="AutoShape 5"/>
          <p:cNvSpPr/>
          <p:nvPr/>
        </p:nvSpPr>
        <p:spPr>
          <a:xfrm>
            <a:off x="6096000" y="1905000"/>
            <a:ext cx="5588000" cy="2222500"/>
          </a:xfrm>
          <a:prstGeom prst="roundRect">
            <a:avLst>
              <a:gd name="adj" fmla="val 6857"/>
            </a:avLst>
          </a:prstGeom>
          <a:solidFill>
            <a:srgbClr val="FFFFFF">
              <a:alpha val="90000"/>
            </a:srgbClr>
          </a:solidFill>
          <a:ln w="12700" cap="flat" cmpd="sng">
            <a:solidFill>
              <a:srgbClr val="D4A574">
                <a:alpha val="3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2159000"/>
            <a:ext cx="304800" cy="304800"/>
          </a:xfrm>
          <a:prstGeom prst="rect">
            <a:avLst/>
          </a:prstGeom>
        </p:spPr>
      </p:pic>
      <p:sp>
        <p:nvSpPr>
          <p:cNvPr id="7" name="AutoShape 7"/>
          <p:cNvSpPr/>
          <p:nvPr/>
        </p:nvSpPr>
        <p:spPr>
          <a:xfrm>
            <a:off x="6858000" y="2108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D4A574"/>
                </a:solidFill>
                <a:latin typeface="Noto Sans SC"/>
                <a:ea typeface="Noto Sans SC"/>
                <a:cs typeface="Noto Sans SC"/>
                <a:sym typeface="Noto Sans SC"/>
              </a:rPr>
              <a:t>市场爆发式增长</a:t>
            </a:r>
            <a:endParaRPr lang="en-US" sz="1100"/>
          </a:p>
        </p:txBody>
      </p:sp>
      <p:sp>
        <p:nvSpPr>
          <p:cNvPr id="8" name="AutoShape 8"/>
          <p:cNvSpPr/>
          <p:nvPr/>
        </p:nvSpPr>
        <p:spPr>
          <a:xfrm>
            <a:off x="6350000" y="2794000"/>
            <a:ext cx="5080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525252"/>
                </a:solidFill>
                <a:latin typeface="Noto Sans SC"/>
                <a:ea typeface="Noto Sans SC"/>
                <a:cs typeface="Noto Sans SC"/>
                <a:sym typeface="Noto Sans SC"/>
              </a:rPr>
              <a:t>•</a:t>
            </a:r>
            <a:r>
              <a:rPr lang="en-US" sz="1400" b="1" i="0" u="none" strike="noStrike">
                <a:solidFill>
                  <a:srgbClr val="525252"/>
                </a:solidFill>
                <a:latin typeface="Noto Sans SC"/>
                <a:ea typeface="Noto Sans SC"/>
                <a:cs typeface="Noto Sans SC"/>
                <a:sym typeface="Noto Sans SC"/>
              </a:rPr>
              <a:t>用户规模：</a:t>
            </a:r>
            <a:r>
              <a:rPr lang="en-US" sz="1400" b="0" i="0" u="none" strike="noStrike">
                <a:solidFill>
                  <a:srgbClr val="525252"/>
                </a:solidFill>
                <a:latin typeface="Noto Sans SC"/>
                <a:ea typeface="Noto Sans SC"/>
                <a:cs typeface="Noto Sans SC"/>
                <a:sym typeface="Noto Sans SC"/>
              </a:rPr>
              <a:t>网络小说用户已突破</a:t>
            </a:r>
            <a:r>
              <a:rPr lang="en-US" sz="1400" b="1" i="0" u="none" strike="noStrike">
                <a:solidFill>
                  <a:srgbClr val="D4A574"/>
                </a:solidFill>
                <a:latin typeface="Noto Sans SC"/>
                <a:ea typeface="Noto Sans SC"/>
                <a:cs typeface="Noto Sans SC"/>
                <a:sym typeface="Noto Sans SC"/>
              </a:rPr>
              <a:t>5亿</a:t>
            </a:r>
            <a:r>
              <a:rPr lang="en-US" sz="1400" b="0" i="0" u="none" strike="noStrike">
                <a:solidFill>
                  <a:srgbClr val="525252"/>
                </a:solidFill>
                <a:latin typeface="Noto Sans SC"/>
                <a:ea typeface="Noto Sans SC"/>
                <a:cs typeface="Noto Sans SC"/>
                <a:sym typeface="Noto Sans SC"/>
              </a:rPr>
              <a:t>大关，渗透率极高。</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25252"/>
                </a:solidFill>
                <a:latin typeface="Noto Sans SC"/>
                <a:ea typeface="Noto Sans SC"/>
                <a:cs typeface="Noto Sans SC"/>
                <a:sym typeface="Noto Sans SC"/>
              </a:rPr>
              <a:t>•</a:t>
            </a:r>
            <a:r>
              <a:rPr lang="en-US" sz="1400" b="1" i="0" u="none" strike="noStrike">
                <a:solidFill>
                  <a:srgbClr val="525252"/>
                </a:solidFill>
                <a:latin typeface="Noto Sans SC"/>
                <a:ea typeface="Noto Sans SC"/>
                <a:cs typeface="Noto Sans SC"/>
                <a:sym typeface="Noto Sans SC"/>
              </a:rPr>
              <a:t>市场规模：</a:t>
            </a:r>
            <a:r>
              <a:rPr lang="en-US" sz="1400" b="0" i="0" u="none" strike="noStrike">
                <a:solidFill>
                  <a:srgbClr val="525252"/>
                </a:solidFill>
                <a:latin typeface="Noto Sans SC"/>
                <a:ea typeface="Noto Sans SC"/>
                <a:cs typeface="Noto Sans SC"/>
                <a:sym typeface="Noto Sans SC"/>
              </a:rPr>
              <a:t>整体市场规模已超过</a:t>
            </a:r>
            <a:r>
              <a:rPr lang="en-US" sz="1400" b="1" i="0" u="none" strike="noStrike">
                <a:solidFill>
                  <a:srgbClr val="D4A574"/>
                </a:solidFill>
                <a:latin typeface="Noto Sans SC"/>
                <a:ea typeface="Noto Sans SC"/>
                <a:cs typeface="Noto Sans SC"/>
                <a:sym typeface="Noto Sans SC"/>
              </a:rPr>
              <a:t>500亿</a:t>
            </a:r>
            <a:r>
              <a:rPr lang="en-US" sz="1400" b="0" i="0" u="none" strike="noStrike">
                <a:solidFill>
                  <a:srgbClr val="525252"/>
                </a:solidFill>
                <a:latin typeface="Noto Sans SC"/>
                <a:ea typeface="Noto Sans SC"/>
                <a:cs typeface="Noto Sans SC"/>
                <a:sym typeface="Noto Sans SC"/>
              </a:rPr>
              <a:t>元人民币，商业模式成熟。</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25252"/>
                </a:solidFill>
                <a:latin typeface="Noto Sans SC"/>
                <a:ea typeface="Noto Sans SC"/>
                <a:cs typeface="Noto Sans SC"/>
                <a:sym typeface="Noto Sans SC"/>
              </a:rPr>
              <a:t>•</a:t>
            </a:r>
            <a:r>
              <a:rPr lang="en-US" sz="1400" b="1" i="0" u="none" strike="noStrike">
                <a:solidFill>
                  <a:srgbClr val="525252"/>
                </a:solidFill>
                <a:latin typeface="Noto Sans SC"/>
                <a:ea typeface="Noto Sans SC"/>
                <a:cs typeface="Noto Sans SC"/>
                <a:sym typeface="Noto Sans SC"/>
              </a:rPr>
              <a:t>内容规模：</a:t>
            </a:r>
            <a:r>
              <a:rPr lang="en-US" sz="1400" b="0" i="0" u="none" strike="noStrike">
                <a:solidFill>
                  <a:srgbClr val="525252"/>
                </a:solidFill>
                <a:latin typeface="Noto Sans SC"/>
                <a:ea typeface="Noto Sans SC"/>
                <a:cs typeface="Noto Sans SC"/>
                <a:sym typeface="Noto Sans SC"/>
              </a:rPr>
              <a:t>海量创作涌入，每年新增小说内容字数以</a:t>
            </a:r>
            <a:r>
              <a:rPr lang="en-US" sz="1400" b="1" i="0" u="none" strike="noStrike">
                <a:solidFill>
                  <a:srgbClr val="D4A574"/>
                </a:solidFill>
                <a:latin typeface="Noto Sans SC"/>
                <a:ea typeface="Noto Sans SC"/>
                <a:cs typeface="Noto Sans SC"/>
                <a:sym typeface="Noto Sans SC"/>
              </a:rPr>
              <a:t>百亿</a:t>
            </a:r>
            <a:r>
              <a:rPr lang="en-US" sz="1400" b="0" i="0" u="none" strike="noStrike">
                <a:solidFill>
                  <a:srgbClr val="525252"/>
                </a:solidFill>
                <a:latin typeface="Noto Sans SC"/>
                <a:ea typeface="Noto Sans SC"/>
                <a:cs typeface="Noto Sans SC"/>
                <a:sym typeface="Noto Sans SC"/>
              </a:rPr>
              <a:t>计。</a:t>
            </a:r>
            <a:endParaRPr lang="en-US" sz="1100"/>
          </a:p>
        </p:txBody>
      </p:sp>
      <p:sp>
        <p:nvSpPr>
          <p:cNvPr id="9" name="AutoShape 9"/>
          <p:cNvSpPr/>
          <p:nvPr/>
        </p:nvSpPr>
        <p:spPr>
          <a:xfrm>
            <a:off x="6096000" y="4381500"/>
            <a:ext cx="5588000" cy="2222500"/>
          </a:xfrm>
          <a:prstGeom prst="roundRect">
            <a:avLst>
              <a:gd name="adj" fmla="val 6857"/>
            </a:avLst>
          </a:prstGeom>
          <a:solidFill>
            <a:srgbClr val="FFFFFF">
              <a:alpha val="90000"/>
            </a:srgbClr>
          </a:solidFill>
          <a:ln w="12700" cap="flat" cmpd="sng">
            <a:solidFill>
              <a:srgbClr val="D4A574">
                <a:alpha val="3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4635500"/>
            <a:ext cx="304800" cy="304800"/>
          </a:xfrm>
          <a:prstGeom prst="rect">
            <a:avLst/>
          </a:prstGeom>
        </p:spPr>
      </p:pic>
      <p:sp>
        <p:nvSpPr>
          <p:cNvPr id="11" name="AutoShape 11"/>
          <p:cNvSpPr/>
          <p:nvPr/>
        </p:nvSpPr>
        <p:spPr>
          <a:xfrm>
            <a:off x="6858000" y="45847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D4A574"/>
                </a:solidFill>
                <a:latin typeface="Noto Sans SC"/>
                <a:ea typeface="Noto Sans SC"/>
                <a:cs typeface="Noto Sans SC"/>
                <a:sym typeface="Noto Sans SC"/>
              </a:rPr>
              <a:t>核心困境：信息过载</a:t>
            </a:r>
            <a:endParaRPr lang="en-US" sz="1100"/>
          </a:p>
        </p:txBody>
      </p:sp>
      <p:sp>
        <p:nvSpPr>
          <p:cNvPr id="12" name="AutoShape 12"/>
          <p:cNvSpPr/>
          <p:nvPr/>
        </p:nvSpPr>
        <p:spPr>
          <a:xfrm>
            <a:off x="6350000" y="5270500"/>
            <a:ext cx="508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25252"/>
                </a:solidFill>
                <a:latin typeface="Noto Sans SC"/>
                <a:ea typeface="Noto Sans SC"/>
                <a:cs typeface="Noto Sans SC"/>
                <a:sym typeface="Noto Sans SC"/>
              </a:rPr>
              <a:t>•</a:t>
            </a:r>
            <a:r>
              <a:rPr lang="en-US" sz="1400" b="1" i="0" u="none" strike="noStrike">
                <a:solidFill>
                  <a:srgbClr val="525252"/>
                </a:solidFill>
                <a:latin typeface="Noto Sans SC"/>
                <a:ea typeface="Noto Sans SC"/>
                <a:cs typeface="Noto Sans SC"/>
                <a:sym typeface="Noto Sans SC"/>
              </a:rPr>
              <a:t>用户端：</a:t>
            </a:r>
            <a:r>
              <a:rPr lang="en-US" sz="1400" b="0" i="0" u="none" strike="noStrike">
                <a:solidFill>
                  <a:srgbClr val="525252"/>
                </a:solidFill>
                <a:latin typeface="Noto Sans SC"/>
                <a:ea typeface="Noto Sans SC"/>
                <a:cs typeface="Noto Sans SC"/>
                <a:sym typeface="Noto Sans SC"/>
              </a:rPr>
              <a:t>海量内容下寻找心仪作品如同“大海捞针”，发现与筛选成本极高。</a:t>
            </a:r>
            <a:br>
              <a:rPr lang="en-US" sz="1400" b="0" i="0" u="none" strike="noStrike">
                <a:solidFill>
                  <a:srgbClr val="525252"/>
                </a:solidFill>
                <a:latin typeface="Noto Sans SC"/>
                <a:ea typeface="Noto Sans SC"/>
                <a:cs typeface="Noto Sans SC"/>
                <a:sym typeface="Noto Sans SC"/>
              </a:rPr>
            </a:br>
            <a:r>
              <a:rPr lang="en-US" sz="1400" b="0" i="0" u="none" strike="noStrike">
                <a:solidFill>
                  <a:srgbClr val="525252"/>
                </a:solidFill>
                <a:latin typeface="Noto Sans SC"/>
                <a:ea typeface="Noto Sans SC"/>
                <a:cs typeface="Noto Sans SC"/>
                <a:sym typeface="Noto Sans SC"/>
              </a:rPr>
              <a:t>•</a:t>
            </a:r>
            <a:r>
              <a:rPr lang="en-US" sz="1400" b="1" i="0" u="none" strike="noStrike">
                <a:solidFill>
                  <a:srgbClr val="525252"/>
                </a:solidFill>
                <a:latin typeface="Noto Sans SC"/>
                <a:ea typeface="Noto Sans SC"/>
                <a:cs typeface="Noto Sans SC"/>
                <a:sym typeface="Noto Sans SC"/>
              </a:rPr>
              <a:t>平台端：</a:t>
            </a:r>
            <a:r>
              <a:rPr lang="en-US" sz="1400" b="0" i="0" u="none" strike="noStrike">
                <a:solidFill>
                  <a:srgbClr val="525252"/>
                </a:solidFill>
                <a:latin typeface="Noto Sans SC"/>
                <a:ea typeface="Noto Sans SC"/>
                <a:cs typeface="Noto Sans SC"/>
                <a:sym typeface="Noto Sans SC"/>
              </a:rPr>
              <a:t>内容管理难度剧增，传统中心化推荐机制易致内容同质化，难以挖掘长尾价值。</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传统方法的局限性</a:t>
            </a:r>
            <a:endParaRPr lang="en-US" sz="1100"/>
          </a:p>
        </p:txBody>
      </p:sp>
      <p:sp>
        <p:nvSpPr>
          <p:cNvPr id="4" name="AutoShape 4"/>
          <p:cNvSpPr/>
          <p:nvPr/>
        </p:nvSpPr>
        <p:spPr>
          <a:xfrm>
            <a:off x="762000" y="1778000"/>
            <a:ext cx="3302000" cy="3556000"/>
          </a:xfrm>
          <a:prstGeom prst="roundRect">
            <a:avLst>
              <a:gd name="adj" fmla="val 3076"/>
            </a:avLst>
          </a:prstGeom>
          <a:solidFill>
            <a:srgbClr val="FFFFFF">
              <a:alpha val="100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558800" cy="558800"/>
          </a:xfrm>
          <a:prstGeom prst="rect">
            <a:avLst/>
          </a:prstGeom>
        </p:spPr>
      </p:pic>
      <p:sp>
        <p:nvSpPr>
          <p:cNvPr id="6" name="AutoShape 6"/>
          <p:cNvSpPr/>
          <p:nvPr/>
        </p:nvSpPr>
        <p:spPr>
          <a:xfrm>
            <a:off x="1778000" y="2057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关键词匹配</a:t>
            </a:r>
            <a:endParaRPr lang="en-US" sz="1100"/>
          </a:p>
        </p:txBody>
      </p:sp>
      <p:sp>
        <p:nvSpPr>
          <p:cNvPr id="7" name="AutoShape 7"/>
          <p:cNvSpPr/>
          <p:nvPr/>
        </p:nvSpPr>
        <p:spPr>
          <a:xfrm>
            <a:off x="1016000" y="2921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D4A574"/>
                </a:solidFill>
                <a:latin typeface="Noto Sans SC"/>
                <a:ea typeface="Noto Sans SC"/>
                <a:cs typeface="Noto Sans SC"/>
                <a:sym typeface="Noto Sans SC"/>
              </a:rPr>
              <a:t>💡 原理：</a:t>
            </a:r>
            <a:r>
              <a:rPr lang="en-US" sz="1300" b="0" i="0" u="none" strike="noStrike">
                <a:solidFill>
                  <a:srgbClr val="555555"/>
                </a:solidFill>
                <a:latin typeface="Noto Sans SC"/>
                <a:ea typeface="Noto Sans SC"/>
                <a:cs typeface="Noto Sans SC"/>
                <a:sym typeface="Noto Sans SC"/>
              </a:rPr>
              <a:t>通过匹配预设关键词判断类型。</a:t>
            </a:r>
            <a:endParaRPr lang="en-US" sz="1100"/>
          </a:p>
          <a:p>
            <a:pPr indent="0" algn="l">
              <a:lnSpc>
                <a:spcPct val="116666"/>
              </a:lnSpc>
              <a:spcBef>
                <a:spcPts val="1200"/>
              </a:spcBef>
            </a:pPr>
            <a:r>
              <a:rPr lang="en-US" sz="1400" b="1" i="0" u="none" strike="noStrike">
                <a:solidFill>
                  <a:srgbClr val="EF4444"/>
                </a:solidFill>
                <a:latin typeface="Noto Sans SC"/>
                <a:ea typeface="Noto Sans SC"/>
                <a:cs typeface="Noto Sans SC"/>
                <a:sym typeface="Noto Sans SC"/>
              </a:rPr>
              <a:t>⚠️ 局限：</a:t>
            </a:r>
            <a:r>
              <a:rPr lang="en-US" sz="1300" b="0" i="0" u="none" strike="noStrike">
                <a:solidFill>
                  <a:srgbClr val="555555"/>
                </a:solidFill>
                <a:latin typeface="Noto Sans SC"/>
                <a:ea typeface="Noto Sans SC"/>
                <a:cs typeface="Noto Sans SC"/>
                <a:sym typeface="Noto Sans SC"/>
              </a:rPr>
              <a:t>无法理解语义上下文，易产生误判。例如，含“考古”词汇的小说可能被误判为历史纪实。</a:t>
            </a:r>
          </a:p>
        </p:txBody>
      </p:sp>
      <p:sp>
        <p:nvSpPr>
          <p:cNvPr id="8" name="AutoShape 8"/>
          <p:cNvSpPr/>
          <p:nvPr/>
        </p:nvSpPr>
        <p:spPr>
          <a:xfrm>
            <a:off x="4445000" y="1778000"/>
            <a:ext cx="3302000" cy="3556000"/>
          </a:xfrm>
          <a:prstGeom prst="roundRect">
            <a:avLst>
              <a:gd name="adj" fmla="val 3076"/>
            </a:avLst>
          </a:prstGeom>
          <a:solidFill>
            <a:srgbClr val="FFFFFF">
              <a:alpha val="100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032000"/>
            <a:ext cx="558800" cy="558800"/>
          </a:xfrm>
          <a:prstGeom prst="rect">
            <a:avLst/>
          </a:prstGeom>
        </p:spPr>
      </p:pic>
      <p:sp>
        <p:nvSpPr>
          <p:cNvPr id="10" name="AutoShape 10"/>
          <p:cNvSpPr/>
          <p:nvPr/>
        </p:nvSpPr>
        <p:spPr>
          <a:xfrm>
            <a:off x="5461000" y="2057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规则引擎</a:t>
            </a:r>
            <a:endParaRPr lang="en-US" sz="1100"/>
          </a:p>
        </p:txBody>
      </p:sp>
      <p:sp>
        <p:nvSpPr>
          <p:cNvPr id="11" name="AutoShape 11"/>
          <p:cNvSpPr/>
          <p:nvPr/>
        </p:nvSpPr>
        <p:spPr>
          <a:xfrm>
            <a:off x="4699000" y="2921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D4A574"/>
                </a:solidFill>
                <a:latin typeface="Noto Sans SC"/>
                <a:ea typeface="Noto Sans SC"/>
                <a:cs typeface="Noto Sans SC"/>
                <a:sym typeface="Noto Sans SC"/>
              </a:rPr>
              <a:t>💡 原理：</a:t>
            </a:r>
            <a:r>
              <a:rPr lang="en-US" sz="1300" b="0" i="0" u="none" strike="noStrike">
                <a:solidFill>
                  <a:srgbClr val="555555"/>
                </a:solidFill>
                <a:latin typeface="Noto Sans SC"/>
                <a:ea typeface="Noto Sans SC"/>
                <a:cs typeface="Noto Sans SC"/>
                <a:sym typeface="Noto Sans SC"/>
              </a:rPr>
              <a:t>依赖人工制定的复杂规则体系进行内容判定。</a:t>
            </a:r>
            <a:endParaRPr lang="en-US" sz="1100"/>
          </a:p>
          <a:p>
            <a:pPr indent="0" algn="l">
              <a:lnSpc>
                <a:spcPct val="116666"/>
              </a:lnSpc>
              <a:spcBef>
                <a:spcPts val="1200"/>
              </a:spcBef>
            </a:pPr>
            <a:r>
              <a:rPr lang="en-US" sz="1400" b="1" i="0" u="none" strike="noStrike">
                <a:solidFill>
                  <a:srgbClr val="EF4444"/>
                </a:solidFill>
                <a:latin typeface="Noto Sans SC"/>
                <a:ea typeface="Noto Sans SC"/>
                <a:cs typeface="Noto Sans SC"/>
                <a:sym typeface="Noto Sans SC"/>
              </a:rPr>
              <a:t>⚠️ 局限：</a:t>
            </a:r>
            <a:r>
              <a:rPr lang="en-US" sz="1300" b="0" i="0" u="none" strike="noStrike">
                <a:solidFill>
                  <a:srgbClr val="555555"/>
                </a:solidFill>
                <a:latin typeface="Noto Sans SC"/>
                <a:ea typeface="Noto Sans SC"/>
                <a:cs typeface="Noto Sans SC"/>
                <a:sym typeface="Noto Sans SC"/>
              </a:rPr>
              <a:t>规则的维护与更新成本极高，难以灵活应对新出现的题材和复杂多变的文本表达方式。</a:t>
            </a:r>
          </a:p>
        </p:txBody>
      </p:sp>
      <p:sp>
        <p:nvSpPr>
          <p:cNvPr id="12" name="AutoShape 12"/>
          <p:cNvSpPr/>
          <p:nvPr/>
        </p:nvSpPr>
        <p:spPr>
          <a:xfrm>
            <a:off x="8128000" y="1778000"/>
            <a:ext cx="3302000" cy="3556000"/>
          </a:xfrm>
          <a:prstGeom prst="roundRect">
            <a:avLst>
              <a:gd name="adj" fmla="val 3076"/>
            </a:avLst>
          </a:prstGeom>
          <a:solidFill>
            <a:srgbClr val="FFFFFF">
              <a:alpha val="100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032000"/>
            <a:ext cx="558800" cy="558800"/>
          </a:xfrm>
          <a:prstGeom prst="rect">
            <a:avLst/>
          </a:prstGeom>
        </p:spPr>
      </p:pic>
      <p:sp>
        <p:nvSpPr>
          <p:cNvPr id="14" name="AutoShape 14"/>
          <p:cNvSpPr/>
          <p:nvPr/>
        </p:nvSpPr>
        <p:spPr>
          <a:xfrm>
            <a:off x="9144000" y="2057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简单机器学习</a:t>
            </a:r>
            <a:endParaRPr lang="en-US" sz="1100"/>
          </a:p>
        </p:txBody>
      </p:sp>
      <p:sp>
        <p:nvSpPr>
          <p:cNvPr id="15" name="AutoShape 15"/>
          <p:cNvSpPr/>
          <p:nvPr/>
        </p:nvSpPr>
        <p:spPr>
          <a:xfrm>
            <a:off x="8382000" y="2921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D4A574"/>
                </a:solidFill>
                <a:latin typeface="Noto Sans SC"/>
                <a:ea typeface="Noto Sans SC"/>
                <a:cs typeface="Noto Sans SC"/>
                <a:sym typeface="Noto Sans SC"/>
              </a:rPr>
              <a:t>💡 原理：</a:t>
            </a:r>
            <a:r>
              <a:rPr lang="en-US" sz="1300" b="0" i="0" u="none" strike="noStrike">
                <a:solidFill>
                  <a:srgbClr val="555555"/>
                </a:solidFill>
                <a:latin typeface="Noto Sans SC"/>
                <a:ea typeface="Noto Sans SC"/>
                <a:cs typeface="Noto Sans SC"/>
                <a:sym typeface="Noto Sans SC"/>
              </a:rPr>
              <a:t>如TF-IDF+SVM等方法，高度依赖人工特征工程提取文本特征。</a:t>
            </a:r>
            <a:endParaRPr lang="en-US" sz="1100"/>
          </a:p>
          <a:p>
            <a:pPr indent="0" algn="l">
              <a:lnSpc>
                <a:spcPct val="116666"/>
              </a:lnSpc>
              <a:spcBef>
                <a:spcPts val="1200"/>
              </a:spcBef>
            </a:pPr>
            <a:r>
              <a:rPr lang="en-US" sz="1400" b="1" i="0" u="none" strike="noStrike">
                <a:solidFill>
                  <a:srgbClr val="EF4444"/>
                </a:solidFill>
                <a:latin typeface="Noto Sans SC"/>
                <a:ea typeface="Noto Sans SC"/>
                <a:cs typeface="Noto Sans SC"/>
                <a:sym typeface="Noto Sans SC"/>
              </a:rPr>
              <a:t>⚠️ 局限：</a:t>
            </a:r>
            <a:r>
              <a:rPr lang="en-US" sz="1300" b="0" i="0" u="none" strike="noStrike">
                <a:solidFill>
                  <a:srgbClr val="555555"/>
                </a:solidFill>
                <a:latin typeface="Noto Sans SC"/>
                <a:ea typeface="Noto Sans SC"/>
                <a:cs typeface="Noto Sans SC"/>
                <a:sym typeface="Noto Sans SC"/>
              </a:rPr>
              <a:t>特征工程过程繁琐耗时，且模型泛化能力不足，无法有效捕捉文本深层语义信息。</a:t>
            </a:r>
          </a:p>
        </p:txBody>
      </p:sp>
      <p:sp>
        <p:nvSpPr>
          <p:cNvPr id="16" name="AutoShape 16"/>
          <p:cNvSpPr/>
          <p:nvPr/>
        </p:nvSpPr>
        <p:spPr>
          <a:xfrm>
            <a:off x="762000" y="5588000"/>
            <a:ext cx="10668000" cy="889000"/>
          </a:xfrm>
          <a:prstGeom prst="roundRect">
            <a:avLst>
              <a:gd name="adj" fmla="val 17142"/>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588000"/>
            <a:ext cx="10668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 核心痛点： 缺乏对文本内容的深度理解，导致精准度低、泛化性差</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D4A574"/>
                </a:solidFill>
                <a:latin typeface="Noto Sans SC"/>
                <a:ea typeface="Noto Sans SC"/>
                <a:cs typeface="Noto Sans SC"/>
                <a:sym typeface="Noto Sans SC"/>
              </a:rPr>
              <a:t>02</a:t>
            </a:r>
            <a:endParaRPr lang="en-US" sz="1100"/>
          </a:p>
        </p:txBody>
      </p:sp>
      <p:sp>
        <p:nvSpPr>
          <p:cNvPr id="3" name="AutoShape 3"/>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技术方案与架构</a:t>
            </a:r>
            <a:endParaRPr lang="en-US" sz="1100"/>
          </a:p>
        </p:txBody>
      </p:sp>
      <p:sp>
        <p:nvSpPr>
          <p:cNvPr id="4" name="AutoShape 4"/>
          <p:cNvSpPr/>
          <p:nvPr/>
        </p:nvSpPr>
        <p:spPr>
          <a:xfrm>
            <a:off x="0" y="4953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757575"/>
                </a:solidFill>
                <a:latin typeface="Noto Sans SC"/>
                <a:ea typeface="Noto Sans SC"/>
                <a:cs typeface="Noto Sans SC"/>
                <a:sym typeface="Noto Sans SC"/>
              </a:rPr>
              <a:t>TECHNICAL SOLUTION &amp; ARCHITECTURE</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l="21962" r="21962"/>
          <a:stretch>
            <a:fillRect/>
          </a:stretch>
        </p:blipFill>
        <p:spPr>
          <a:xfrm>
            <a:off x="508000" y="1524000"/>
            <a:ext cx="4826000" cy="4826000"/>
          </a:xfrm>
          <a:prstGeom prst="roundRect">
            <a:avLst>
              <a:gd name="adj" fmla="val 3157"/>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096000" y="635000"/>
            <a:ext cx="558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总体思路：AI Agent驱动的智能分析</a:t>
            </a:r>
            <a:endParaRPr lang="en-US" sz="1100"/>
          </a:p>
        </p:txBody>
      </p:sp>
      <p:sp>
        <p:nvSpPr>
          <p:cNvPr id="5" name="AutoShape 5"/>
          <p:cNvSpPr/>
          <p:nvPr/>
        </p:nvSpPr>
        <p:spPr>
          <a:xfrm>
            <a:off x="6096000" y="1778000"/>
            <a:ext cx="5588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555555"/>
                </a:solidFill>
                <a:latin typeface="Noto Sans SC"/>
                <a:ea typeface="Noto Sans SC"/>
                <a:cs typeface="Noto Sans SC"/>
                <a:sym typeface="Noto Sans SC"/>
              </a:rPr>
              <a:t>我们提出了基于AI Agent的智能分析框架，旨在构建一个能够模拟人类专家进行阅读、理解和分析的智能体，实现从“文本匹配”到“深度理解”的质的跨越。</a:t>
            </a:r>
            <a:endParaRPr lang="en-US" sz="1100"/>
          </a:p>
        </p:txBody>
      </p:sp>
      <p:sp>
        <p:nvSpPr>
          <p:cNvPr id="6" name="AutoShape 6"/>
          <p:cNvSpPr/>
          <p:nvPr/>
        </p:nvSpPr>
        <p:spPr>
          <a:xfrm>
            <a:off x="6096000" y="2921000"/>
            <a:ext cx="5588000" cy="1143000"/>
          </a:xfrm>
          <a:prstGeom prst="roundRect">
            <a:avLst>
              <a:gd name="adj" fmla="val 8888"/>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6096000" y="3111500"/>
            <a:ext cx="76200" cy="762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3213100"/>
            <a:ext cx="558800" cy="558800"/>
          </a:xfrm>
          <a:prstGeom prst="rect">
            <a:avLst/>
          </a:prstGeom>
        </p:spPr>
      </p:pic>
      <p:sp>
        <p:nvSpPr>
          <p:cNvPr id="9" name="AutoShape 9"/>
          <p:cNvSpPr/>
          <p:nvPr/>
        </p:nvSpPr>
        <p:spPr>
          <a:xfrm>
            <a:off x="7239000" y="30734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深度理解 (Deep Understanding)</a:t>
            </a:r>
            <a:endParaRPr lang="en-US" sz="1100"/>
          </a:p>
          <a:p>
            <a:pPr indent="0" algn="l">
              <a:lnSpc>
                <a:spcPct val="108333"/>
              </a:lnSpc>
              <a:spcBef>
                <a:spcPts val="400"/>
              </a:spcBef>
            </a:pPr>
            <a:r>
              <a:rPr lang="en-US" sz="1300" b="0" i="0" u="none" strike="noStrike">
                <a:solidFill>
                  <a:srgbClr val="666666"/>
                </a:solidFill>
                <a:latin typeface="Noto Sans SC"/>
                <a:ea typeface="Noto Sans SC"/>
                <a:cs typeface="Noto Sans SC"/>
                <a:sym typeface="Noto Sans SC"/>
              </a:rPr>
              <a:t>从语义逻辑、情感倾向、叙事结构及核心主题等多维度，对小说内容进行全方位的解析与解构。</a:t>
            </a:r>
          </a:p>
        </p:txBody>
      </p:sp>
      <p:sp>
        <p:nvSpPr>
          <p:cNvPr id="10" name="AutoShape 10"/>
          <p:cNvSpPr/>
          <p:nvPr/>
        </p:nvSpPr>
        <p:spPr>
          <a:xfrm>
            <a:off x="6096000" y="4191000"/>
            <a:ext cx="5588000" cy="1143000"/>
          </a:xfrm>
          <a:prstGeom prst="roundRect">
            <a:avLst>
              <a:gd name="adj" fmla="val 8888"/>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096000" y="4381500"/>
            <a:ext cx="76200" cy="762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483100"/>
            <a:ext cx="558800" cy="558800"/>
          </a:xfrm>
          <a:prstGeom prst="rect">
            <a:avLst/>
          </a:prstGeom>
        </p:spPr>
      </p:pic>
      <p:sp>
        <p:nvSpPr>
          <p:cNvPr id="13" name="AutoShape 13"/>
          <p:cNvSpPr/>
          <p:nvPr/>
        </p:nvSpPr>
        <p:spPr>
          <a:xfrm>
            <a:off x="7239000" y="43434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自主学习 (Autonomous Learning)</a:t>
            </a:r>
            <a:endParaRPr lang="en-US" sz="1100"/>
          </a:p>
          <a:p>
            <a:pPr indent="0" algn="l">
              <a:lnSpc>
                <a:spcPct val="108333"/>
              </a:lnSpc>
              <a:spcBef>
                <a:spcPts val="400"/>
              </a:spcBef>
            </a:pPr>
            <a:r>
              <a:rPr lang="en-US" sz="1300" b="0" i="0" u="none" strike="noStrike">
                <a:solidFill>
                  <a:srgbClr val="666666"/>
                </a:solidFill>
                <a:latin typeface="Noto Sans SC"/>
                <a:ea typeface="Noto Sans SC"/>
                <a:cs typeface="Noto Sans SC"/>
                <a:sym typeface="Noto Sans SC"/>
              </a:rPr>
              <a:t>基于大规模文学数据持续预训练，并能根据新输入文本和用户反馈进行快速的增量学习与迭代优化。</a:t>
            </a:r>
          </a:p>
        </p:txBody>
      </p:sp>
      <p:sp>
        <p:nvSpPr>
          <p:cNvPr id="14" name="AutoShape 14"/>
          <p:cNvSpPr/>
          <p:nvPr/>
        </p:nvSpPr>
        <p:spPr>
          <a:xfrm>
            <a:off x="6096000" y="5334000"/>
            <a:ext cx="5588000" cy="1143000"/>
          </a:xfrm>
          <a:prstGeom prst="roundRect">
            <a:avLst>
              <a:gd name="adj" fmla="val 8888"/>
            </a:avLst>
          </a:prstGeom>
          <a:solidFill>
            <a:srgbClr val="FFFFFF">
              <a:alpha val="9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096000" y="5524500"/>
            <a:ext cx="76200" cy="762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5626100"/>
            <a:ext cx="558800" cy="558800"/>
          </a:xfrm>
          <a:prstGeom prst="rect">
            <a:avLst/>
          </a:prstGeom>
        </p:spPr>
      </p:pic>
      <p:sp>
        <p:nvSpPr>
          <p:cNvPr id="17" name="AutoShape 17"/>
          <p:cNvSpPr/>
          <p:nvPr/>
        </p:nvSpPr>
        <p:spPr>
          <a:xfrm>
            <a:off x="7239000" y="54864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智能决策 (Intelligent Decision)</a:t>
            </a:r>
            <a:endParaRPr lang="en-US" sz="1100"/>
          </a:p>
          <a:p>
            <a:pPr indent="0" algn="l">
              <a:lnSpc>
                <a:spcPct val="108333"/>
              </a:lnSpc>
              <a:spcBef>
                <a:spcPts val="400"/>
              </a:spcBef>
            </a:pPr>
            <a:r>
              <a:rPr lang="en-US" sz="1300" b="0" i="0" u="none" strike="noStrike">
                <a:solidFill>
                  <a:srgbClr val="666666"/>
                </a:solidFill>
                <a:latin typeface="Noto Sans SC"/>
                <a:ea typeface="Noto Sans SC"/>
                <a:cs typeface="Noto Sans SC"/>
                <a:sym typeface="Noto Sans SC"/>
              </a:rPr>
              <a:t>综合深度理解的结果，结合用户画像，做出精准的小说分类、标签生成以及个性化内容推荐决策。</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核心技术栈</a:t>
            </a:r>
            <a:endParaRPr lang="en-US" sz="1100"/>
          </a:p>
        </p:txBody>
      </p:sp>
      <p:sp>
        <p:nvSpPr>
          <p:cNvPr id="4" name="AutoShape 4"/>
          <p:cNvSpPr/>
          <p:nvPr/>
        </p:nvSpPr>
        <p:spPr>
          <a:xfrm>
            <a:off x="762000" y="177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159000"/>
            <a:ext cx="609600" cy="609600"/>
          </a:xfrm>
          <a:prstGeom prst="rect">
            <a:avLst/>
          </a:prstGeom>
        </p:spPr>
      </p:pic>
      <p:sp>
        <p:nvSpPr>
          <p:cNvPr id="6" name="AutoShape 6"/>
          <p:cNvSpPr/>
          <p:nvPr/>
        </p:nvSpPr>
        <p:spPr>
          <a:xfrm>
            <a:off x="1905000" y="20955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333333"/>
                </a:solidFill>
                <a:latin typeface="Noto Sans SC"/>
                <a:ea typeface="Noto Sans SC"/>
                <a:cs typeface="Noto Sans SC"/>
                <a:sym typeface="Noto Sans SC"/>
              </a:rPr>
              <a:t>NLP (自然语言处理)</a:t>
            </a:r>
            <a:endParaRPr lang="en-US" sz="1100"/>
          </a:p>
          <a:p>
            <a:pPr indent="0" algn="l">
              <a:lnSpc>
                <a:spcPct val="125000"/>
              </a:lnSpc>
              <a:spcBef>
                <a:spcPts val="1200"/>
              </a:spcBef>
            </a:pPr>
            <a:r>
              <a:rPr lang="en-US" sz="1300" b="0" i="0" u="none" strike="noStrike">
                <a:solidFill>
                  <a:srgbClr val="5A5A5A"/>
                </a:solidFill>
                <a:latin typeface="Noto Sans SC"/>
                <a:ea typeface="Noto Sans SC"/>
                <a:cs typeface="Noto Sans SC"/>
                <a:sym typeface="Noto Sans SC"/>
              </a:rPr>
              <a:t>作为基础，负责文本的分词、句法分析、命名实体识别等基础处理，为上层应用构建坚实的数据理解基石。</a:t>
            </a:r>
          </a:p>
        </p:txBody>
      </p:sp>
      <p:sp>
        <p:nvSpPr>
          <p:cNvPr id="7" name="AutoShape 7"/>
          <p:cNvSpPr/>
          <p:nvPr/>
        </p:nvSpPr>
        <p:spPr>
          <a:xfrm>
            <a:off x="6223000" y="177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2159000"/>
            <a:ext cx="609600" cy="609600"/>
          </a:xfrm>
          <a:prstGeom prst="rect">
            <a:avLst/>
          </a:prstGeom>
        </p:spPr>
      </p:pic>
      <p:sp>
        <p:nvSpPr>
          <p:cNvPr id="9" name="AutoShape 9"/>
          <p:cNvSpPr/>
          <p:nvPr/>
        </p:nvSpPr>
        <p:spPr>
          <a:xfrm>
            <a:off x="7366000" y="20955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333333"/>
                </a:solidFill>
                <a:latin typeface="Noto Sans SC"/>
                <a:ea typeface="Noto Sans SC"/>
                <a:cs typeface="Noto Sans SC"/>
                <a:sym typeface="Noto Sans SC"/>
              </a:rPr>
              <a:t>DL (深度学习)</a:t>
            </a:r>
            <a:endParaRPr lang="en-US" sz="1100"/>
          </a:p>
          <a:p>
            <a:pPr indent="0" algn="l">
              <a:lnSpc>
                <a:spcPct val="125000"/>
              </a:lnSpc>
              <a:spcBef>
                <a:spcPts val="1200"/>
              </a:spcBef>
            </a:pPr>
            <a:r>
              <a:rPr lang="en-US" sz="1300" b="0" i="0" u="none" strike="noStrike">
                <a:solidFill>
                  <a:srgbClr val="5A5A5A"/>
                </a:solidFill>
                <a:latin typeface="Noto Sans SC"/>
                <a:ea typeface="Noto Sans SC"/>
                <a:cs typeface="Noto Sans SC"/>
                <a:sym typeface="Noto Sans SC"/>
              </a:rPr>
              <a:t>核心驱动力，利用Transformer架构强大的特征提取能力，精准捕捉文本中的深层语义特征与上下文关联。</a:t>
            </a:r>
          </a:p>
        </p:txBody>
      </p:sp>
      <p:sp>
        <p:nvSpPr>
          <p:cNvPr id="10" name="AutoShape 10"/>
          <p:cNvSpPr/>
          <p:nvPr/>
        </p:nvSpPr>
        <p:spPr>
          <a:xfrm>
            <a:off x="762000" y="4191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66800" y="4572000"/>
            <a:ext cx="609600" cy="609600"/>
          </a:xfrm>
          <a:prstGeom prst="rect">
            <a:avLst/>
          </a:prstGeom>
        </p:spPr>
      </p:pic>
      <p:sp>
        <p:nvSpPr>
          <p:cNvPr id="12" name="AutoShape 12"/>
          <p:cNvSpPr/>
          <p:nvPr/>
        </p:nvSpPr>
        <p:spPr>
          <a:xfrm>
            <a:off x="1905000" y="45085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333333"/>
                </a:solidFill>
                <a:latin typeface="Noto Sans SC"/>
                <a:ea typeface="Noto Sans SC"/>
                <a:cs typeface="Noto Sans SC"/>
                <a:sym typeface="Noto Sans SC"/>
              </a:rPr>
              <a:t>KG (知识图谱)</a:t>
            </a:r>
            <a:endParaRPr lang="en-US" sz="1100"/>
          </a:p>
          <a:p>
            <a:pPr indent="0" algn="l">
              <a:lnSpc>
                <a:spcPct val="125000"/>
              </a:lnSpc>
              <a:spcBef>
                <a:spcPts val="1200"/>
              </a:spcBef>
            </a:pPr>
            <a:r>
              <a:rPr lang="en-US" sz="1300" b="0" i="0" u="none" strike="noStrike">
                <a:solidFill>
                  <a:srgbClr val="5A5A5A"/>
                </a:solidFill>
                <a:latin typeface="Noto Sans SC"/>
                <a:ea typeface="Noto Sans SC"/>
                <a:cs typeface="Noto Sans SC"/>
                <a:sym typeface="Noto Sans SC"/>
              </a:rPr>
              <a:t>引入外部结构化知识，增强模型对复杂实体关系、领域背景知识的理解，有效解决数据稀疏问题。</a:t>
            </a:r>
          </a:p>
        </p:txBody>
      </p:sp>
      <p:sp>
        <p:nvSpPr>
          <p:cNvPr id="13" name="AutoShape 13"/>
          <p:cNvSpPr/>
          <p:nvPr/>
        </p:nvSpPr>
        <p:spPr>
          <a:xfrm>
            <a:off x="6223000" y="4191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27800" y="4572000"/>
            <a:ext cx="609600" cy="609600"/>
          </a:xfrm>
          <a:prstGeom prst="rect">
            <a:avLst/>
          </a:prstGeom>
        </p:spPr>
      </p:pic>
      <p:sp>
        <p:nvSpPr>
          <p:cNvPr id="15" name="AutoShape 15"/>
          <p:cNvSpPr/>
          <p:nvPr/>
        </p:nvSpPr>
        <p:spPr>
          <a:xfrm>
            <a:off x="7366000" y="45085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333333"/>
                </a:solidFill>
                <a:latin typeface="Noto Sans SC"/>
                <a:ea typeface="Noto Sans SC"/>
                <a:cs typeface="Noto Sans SC"/>
                <a:sym typeface="Noto Sans SC"/>
              </a:rPr>
              <a:t>TL (迁移学习)</a:t>
            </a:r>
            <a:endParaRPr lang="en-US" sz="1100"/>
          </a:p>
          <a:p>
            <a:pPr indent="0" algn="l">
              <a:lnSpc>
                <a:spcPct val="125000"/>
              </a:lnSpc>
              <a:spcBef>
                <a:spcPts val="1200"/>
              </a:spcBef>
            </a:pPr>
            <a:r>
              <a:rPr lang="en-US" sz="1300" b="0" i="0" u="none" strike="noStrike">
                <a:solidFill>
                  <a:srgbClr val="5A5A5A"/>
                </a:solidFill>
                <a:latin typeface="Noto Sans SC"/>
                <a:ea typeface="Noto Sans SC"/>
                <a:cs typeface="Noto Sans SC"/>
                <a:sym typeface="Noto Sans SC"/>
              </a:rPr>
              <a:t>基于BERT等大规模预训练模型进行下游任务微调，显著降低对高质量标注数据的依赖，实现性能快速提升。</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系统架构设计</a:t>
            </a:r>
            <a:endParaRPr lang="en-US" sz="1100"/>
          </a:p>
        </p:txBody>
      </p:sp>
      <p:sp>
        <p:nvSpPr>
          <p:cNvPr id="3" name="AutoShape 3"/>
          <p:cNvSpPr/>
          <p:nvPr/>
        </p:nvSpPr>
        <p:spPr>
          <a:xfrm>
            <a:off x="762000" y="1651000"/>
            <a:ext cx="1066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651000"/>
            <a:ext cx="76200" cy="1143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1879600"/>
            <a:ext cx="685800" cy="685800"/>
          </a:xfrm>
          <a:prstGeom prst="rect">
            <a:avLst/>
          </a:prstGeom>
        </p:spPr>
      </p:pic>
      <p:sp>
        <p:nvSpPr>
          <p:cNvPr id="6" name="AutoShape 6"/>
          <p:cNvSpPr/>
          <p:nvPr/>
        </p:nvSpPr>
        <p:spPr>
          <a:xfrm>
            <a:off x="2032000" y="1803400"/>
            <a:ext cx="2794000" cy="838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应用层</a:t>
            </a:r>
            <a:r>
              <a:rPr lang="en-US" sz="1400" b="0" i="0" u="none" strike="noStrike">
                <a:solidFill>
                  <a:srgbClr val="999999"/>
                </a:solidFill>
                <a:latin typeface="Noto Sans SC"/>
                <a:ea typeface="Noto Sans SC"/>
                <a:cs typeface="Noto Sans SC"/>
                <a:sym typeface="Noto Sans SC"/>
              </a:rPr>
              <a:t>Application Layer</a:t>
            </a:r>
            <a:endParaRPr lang="en-US" sz="1100"/>
          </a:p>
        </p:txBody>
      </p:sp>
      <p:sp>
        <p:nvSpPr>
          <p:cNvPr id="7" name="AutoShape 7"/>
          <p:cNvSpPr/>
          <p:nvPr/>
        </p:nvSpPr>
        <p:spPr>
          <a:xfrm>
            <a:off x="4953000" y="1803400"/>
            <a:ext cx="6223000" cy="8382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555555"/>
                </a:solidFill>
                <a:latin typeface="Noto Sans SC"/>
                <a:ea typeface="Noto Sans SC"/>
                <a:cs typeface="Noto Sans SC"/>
                <a:sym typeface="Noto Sans SC"/>
              </a:rPr>
              <a:t>对外提供业务价值，整合并封装底层能力，提供</a:t>
            </a:r>
            <a:r>
              <a:rPr lang="en-US" sz="1400" b="1" i="0" u="none" strike="noStrike">
                <a:solidFill>
                  <a:srgbClr val="555555"/>
                </a:solidFill>
                <a:latin typeface="Noto Sans SC"/>
                <a:ea typeface="Noto Sans SC"/>
                <a:cs typeface="Noto Sans SC"/>
                <a:sym typeface="Noto Sans SC"/>
              </a:rPr>
              <a:t>分类识别、智能推荐、可视化分析</a:t>
            </a:r>
            <a:r>
              <a:rPr lang="en-US" sz="1400" b="0" i="0" u="none" strike="noStrike">
                <a:solidFill>
                  <a:srgbClr val="555555"/>
                </a:solidFill>
                <a:latin typeface="Noto Sans SC"/>
                <a:ea typeface="Noto Sans SC"/>
                <a:cs typeface="Noto Sans SC"/>
                <a:sym typeface="Noto Sans SC"/>
              </a:rPr>
              <a:t>三大核心服务，直接赋能终端用户与业务场景。</a:t>
            </a:r>
            <a:endParaRPr lang="en-US" sz="1100"/>
          </a:p>
        </p:txBody>
      </p:sp>
      <p:sp>
        <p:nvSpPr>
          <p:cNvPr id="8" name="AutoShape 8"/>
          <p:cNvSpPr/>
          <p:nvPr/>
        </p:nvSpPr>
        <p:spPr>
          <a:xfrm>
            <a:off x="762000" y="3048000"/>
            <a:ext cx="1066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3048000"/>
            <a:ext cx="76200" cy="1143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3276600"/>
            <a:ext cx="685800" cy="685800"/>
          </a:xfrm>
          <a:prstGeom prst="rect">
            <a:avLst/>
          </a:prstGeom>
        </p:spPr>
      </p:pic>
      <p:sp>
        <p:nvSpPr>
          <p:cNvPr id="11" name="AutoShape 11"/>
          <p:cNvSpPr/>
          <p:nvPr/>
        </p:nvSpPr>
        <p:spPr>
          <a:xfrm>
            <a:off x="2032000" y="3200400"/>
            <a:ext cx="2794000" cy="838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模型层</a:t>
            </a:r>
            <a:r>
              <a:rPr lang="en-US" sz="1400" b="0" i="0" u="none" strike="noStrike">
                <a:solidFill>
                  <a:srgbClr val="999999"/>
                </a:solidFill>
                <a:latin typeface="Noto Sans SC"/>
                <a:ea typeface="Noto Sans SC"/>
                <a:cs typeface="Noto Sans SC"/>
                <a:sym typeface="Noto Sans SC"/>
              </a:rPr>
              <a:t>Model Layer</a:t>
            </a:r>
            <a:endParaRPr lang="en-US" sz="1100"/>
          </a:p>
        </p:txBody>
      </p:sp>
      <p:sp>
        <p:nvSpPr>
          <p:cNvPr id="12" name="AutoShape 12"/>
          <p:cNvSpPr/>
          <p:nvPr/>
        </p:nvSpPr>
        <p:spPr>
          <a:xfrm>
            <a:off x="4953000" y="3200400"/>
            <a:ext cx="6223000" cy="8382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555555"/>
                </a:solidFill>
                <a:latin typeface="Noto Sans SC"/>
                <a:ea typeface="Noto Sans SC"/>
                <a:cs typeface="Noto Sans SC"/>
                <a:sym typeface="Noto Sans SC"/>
              </a:rPr>
              <a:t>系统核心处理单元。采用</a:t>
            </a:r>
            <a:r>
              <a:rPr lang="en-US" sz="1400" b="1" i="0" u="none" strike="noStrike">
                <a:solidFill>
                  <a:srgbClr val="555555"/>
                </a:solidFill>
                <a:latin typeface="Noto Sans SC"/>
                <a:ea typeface="Noto Sans SC"/>
                <a:cs typeface="Noto Sans SC"/>
                <a:sym typeface="Noto Sans SC"/>
              </a:rPr>
              <a:t>BERT 预训练模型</a:t>
            </a:r>
            <a:r>
              <a:rPr lang="en-US" sz="1400" b="0" i="0" u="none" strike="noStrike">
                <a:solidFill>
                  <a:srgbClr val="555555"/>
                </a:solidFill>
                <a:latin typeface="Noto Sans SC"/>
                <a:ea typeface="Noto Sans SC"/>
                <a:cs typeface="Noto Sans SC"/>
                <a:sym typeface="Noto Sans SC"/>
              </a:rPr>
              <a:t>结合特定领域的迁移学习策略进行微调优化，确保对小说文本语义的深度理解与精准分析能力。</a:t>
            </a:r>
            <a:endParaRPr lang="en-US" sz="1100"/>
          </a:p>
        </p:txBody>
      </p:sp>
      <p:sp>
        <p:nvSpPr>
          <p:cNvPr id="13" name="AutoShape 13"/>
          <p:cNvSpPr/>
          <p:nvPr/>
        </p:nvSpPr>
        <p:spPr>
          <a:xfrm>
            <a:off x="762000" y="4445000"/>
            <a:ext cx="1066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762000" y="4445000"/>
            <a:ext cx="76200" cy="1143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43000" y="4673600"/>
            <a:ext cx="685800" cy="685800"/>
          </a:xfrm>
          <a:prstGeom prst="rect">
            <a:avLst/>
          </a:prstGeom>
        </p:spPr>
      </p:pic>
      <p:sp>
        <p:nvSpPr>
          <p:cNvPr id="16" name="AutoShape 16"/>
          <p:cNvSpPr/>
          <p:nvPr/>
        </p:nvSpPr>
        <p:spPr>
          <a:xfrm>
            <a:off x="2032000" y="4597400"/>
            <a:ext cx="2794000" cy="838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预处理层</a:t>
            </a:r>
            <a:r>
              <a:rPr lang="en-US" sz="1400" b="0" i="0" u="none" strike="noStrike">
                <a:solidFill>
                  <a:srgbClr val="999999"/>
                </a:solidFill>
                <a:latin typeface="Noto Sans SC"/>
                <a:ea typeface="Noto Sans SC"/>
                <a:cs typeface="Noto Sans SC"/>
                <a:sym typeface="Noto Sans SC"/>
              </a:rPr>
              <a:t>Preprocessing Layer</a:t>
            </a:r>
            <a:endParaRPr lang="en-US" sz="1100"/>
          </a:p>
        </p:txBody>
      </p:sp>
      <p:sp>
        <p:nvSpPr>
          <p:cNvPr id="17" name="AutoShape 17"/>
          <p:cNvSpPr/>
          <p:nvPr/>
        </p:nvSpPr>
        <p:spPr>
          <a:xfrm>
            <a:off x="4953000" y="4597400"/>
            <a:ext cx="6223000" cy="8382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555555"/>
                </a:solidFill>
                <a:latin typeface="Noto Sans SC"/>
                <a:ea typeface="Noto Sans SC"/>
                <a:cs typeface="Noto Sans SC"/>
                <a:sym typeface="Noto Sans SC"/>
              </a:rPr>
              <a:t>连接原始数据与算法模型的关键桥梁。负责对输入文本进行</a:t>
            </a:r>
            <a:r>
              <a:rPr lang="en-US" sz="1400" b="1" i="0" u="none" strike="noStrike">
                <a:solidFill>
                  <a:srgbClr val="555555"/>
                </a:solidFill>
                <a:latin typeface="Noto Sans SC"/>
                <a:ea typeface="Noto Sans SC"/>
                <a:cs typeface="Noto Sans SC"/>
                <a:sym typeface="Noto Sans SC"/>
              </a:rPr>
              <a:t>清洗、中文分词、特征提取</a:t>
            </a:r>
            <a:r>
              <a:rPr lang="en-US" sz="1400" b="0" i="0" u="none" strike="noStrike">
                <a:solidFill>
                  <a:srgbClr val="555555"/>
                </a:solidFill>
                <a:latin typeface="Noto Sans SC"/>
                <a:ea typeface="Noto Sans SC"/>
                <a:cs typeface="Noto Sans SC"/>
                <a:sym typeface="Noto Sans SC"/>
              </a:rPr>
              <a:t>等标准化操作，将非结构化文本转换为模型可高效处理的向量格式。</a:t>
            </a:r>
            <a:endParaRPr lang="en-US" sz="1100"/>
          </a:p>
        </p:txBody>
      </p:sp>
      <p:sp>
        <p:nvSpPr>
          <p:cNvPr id="18" name="AutoShape 18"/>
          <p:cNvSpPr/>
          <p:nvPr/>
        </p:nvSpPr>
        <p:spPr>
          <a:xfrm>
            <a:off x="762000" y="5524500"/>
            <a:ext cx="1066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762000" y="5524500"/>
            <a:ext cx="76200" cy="1143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3000" y="5753100"/>
            <a:ext cx="685800" cy="685800"/>
          </a:xfrm>
          <a:prstGeom prst="rect">
            <a:avLst/>
          </a:prstGeom>
        </p:spPr>
      </p:pic>
      <p:sp>
        <p:nvSpPr>
          <p:cNvPr id="21" name="AutoShape 21"/>
          <p:cNvSpPr/>
          <p:nvPr/>
        </p:nvSpPr>
        <p:spPr>
          <a:xfrm>
            <a:off x="2032000" y="5676900"/>
            <a:ext cx="2794000" cy="838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数据层</a:t>
            </a:r>
            <a:r>
              <a:rPr lang="en-US" sz="1400" b="0" i="0" u="none" strike="noStrike">
                <a:solidFill>
                  <a:srgbClr val="999999"/>
                </a:solidFill>
                <a:latin typeface="Noto Sans SC"/>
                <a:ea typeface="Noto Sans SC"/>
                <a:cs typeface="Noto Sans SC"/>
                <a:sym typeface="Noto Sans SC"/>
              </a:rPr>
              <a:t>Data Layer</a:t>
            </a:r>
            <a:endParaRPr lang="en-US" sz="1100"/>
          </a:p>
        </p:txBody>
      </p:sp>
      <p:sp>
        <p:nvSpPr>
          <p:cNvPr id="22" name="AutoShape 22"/>
          <p:cNvSpPr/>
          <p:nvPr/>
        </p:nvSpPr>
        <p:spPr>
          <a:xfrm>
            <a:off x="4953000" y="5676900"/>
            <a:ext cx="6223000" cy="8382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555555"/>
                </a:solidFill>
                <a:latin typeface="Noto Sans SC"/>
                <a:ea typeface="Noto Sans SC"/>
                <a:cs typeface="Noto Sans SC"/>
                <a:sym typeface="Noto Sans SC"/>
              </a:rPr>
              <a:t>系统运行的坚实基石。负责大规模小说语料的自动化采集、安全存储和统一管理，已构建包含</a:t>
            </a:r>
            <a:r>
              <a:rPr lang="en-US" sz="1400" b="1" i="0" u="none" strike="noStrike">
                <a:solidFill>
                  <a:srgbClr val="555555"/>
                </a:solidFill>
                <a:latin typeface="Noto Sans SC"/>
                <a:ea typeface="Noto Sans SC"/>
                <a:cs typeface="Noto Sans SC"/>
                <a:sym typeface="Noto Sans SC"/>
              </a:rPr>
              <a:t>50万篇小说</a:t>
            </a:r>
            <a:r>
              <a:rPr lang="en-US" sz="1400" b="0" i="0" u="none" strike="noStrike">
                <a:solidFill>
                  <a:srgbClr val="555555"/>
                </a:solidFill>
                <a:latin typeface="Noto Sans SC"/>
                <a:ea typeface="Noto Sans SC"/>
                <a:cs typeface="Noto Sans SC"/>
                <a:sym typeface="Noto Sans SC"/>
              </a:rPr>
              <a:t>的高质量垂直领域语料库。</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0" b="1" i="0" u="none" strike="noStrike">
                <a:solidFill>
                  <a:srgbClr val="D4A574"/>
                </a:solidFill>
                <a:latin typeface="Noto Sans SC"/>
                <a:ea typeface="Noto Sans SC"/>
                <a:cs typeface="Noto Sans SC"/>
                <a:sym typeface="Noto Sans SC"/>
              </a:rPr>
              <a:t>03</a:t>
            </a:r>
            <a:endParaRPr lang="en-US" sz="1100"/>
          </a:p>
        </p:txBody>
      </p:sp>
      <p:sp>
        <p:nvSpPr>
          <p:cNvPr id="3" name="AutoShape 3"/>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项目实施与团队</a:t>
            </a:r>
            <a:endParaRPr lang="en-US" sz="1100"/>
          </a:p>
        </p:txBody>
      </p:sp>
      <p:sp>
        <p:nvSpPr>
          <p:cNvPr id="4" name="AutoShape 4"/>
          <p:cNvSpPr/>
          <p:nvPr/>
        </p:nvSpPr>
        <p:spPr>
          <a:xfrm>
            <a:off x="5588000" y="4826000"/>
            <a:ext cx="1016000" cy="508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100">
                <a:solidFill>
                  <a:srgbClr val="888888"/>
                </a:solidFill>
                <a:latin typeface="Noto Sans SC"/>
                <a:ea typeface="Noto Sans SC"/>
                <a:cs typeface="Noto Sans SC"/>
                <a:sym typeface="Noto Sans SC"/>
              </a:rPr>
              <a:t>IMPLEMENTATION &amp; TEAM</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l="16650" r="16650"/>
          <a:stretch>
            <a:fillRect/>
          </a:stretch>
        </p:blipFill>
        <p:spPr>
          <a:xfrm>
            <a:off x="635000" y="1397000"/>
            <a:ext cx="4826000" cy="4826000"/>
          </a:xfrm>
          <a:prstGeom prst="roundRect">
            <a:avLst>
              <a:gd name="adj" fmla="val 3157"/>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096000" y="635000"/>
            <a:ext cx="546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跨学科团队协作</a:t>
            </a:r>
            <a:endParaRPr lang="en-US" sz="1100"/>
          </a:p>
        </p:txBody>
      </p:sp>
      <p:sp>
        <p:nvSpPr>
          <p:cNvPr id="5" name="AutoShape 5"/>
          <p:cNvSpPr/>
          <p:nvPr/>
        </p:nvSpPr>
        <p:spPr>
          <a:xfrm>
            <a:off x="6096000" y="1524000"/>
            <a:ext cx="5461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555555"/>
                </a:solidFill>
                <a:latin typeface="Noto Sans SC"/>
                <a:ea typeface="Noto Sans SC"/>
                <a:cs typeface="Noto Sans SC"/>
                <a:sym typeface="Noto Sans SC"/>
              </a:rPr>
              <a:t>项目的成功离不开一个高效协作的跨学科团队，成员背景互补，确保了技术实现与业务需求的完美结合，打造出兼具专业性与实用性的产品。</a:t>
            </a:r>
            <a:endParaRPr lang="en-US" sz="1100"/>
          </a:p>
        </p:txBody>
      </p:sp>
      <p:sp>
        <p:nvSpPr>
          <p:cNvPr id="6" name="AutoShape 6"/>
          <p:cNvSpPr/>
          <p:nvPr/>
        </p:nvSpPr>
        <p:spPr>
          <a:xfrm>
            <a:off x="6096000" y="2794000"/>
            <a:ext cx="2667000" cy="1206500"/>
          </a:xfrm>
          <a:prstGeom prst="roundRect">
            <a:avLst>
              <a:gd name="adj" fmla="val 842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6096000" y="2794000"/>
            <a:ext cx="76200" cy="12065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350000" y="29464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项目负责人</a:t>
            </a:r>
            <a:endParaRPr lang="en-US" sz="1100"/>
          </a:p>
          <a:p>
            <a:pPr indent="0" algn="l">
              <a:lnSpc>
                <a:spcPct val="108333"/>
              </a:lnSpc>
              <a:spcBef>
                <a:spcPts val="600"/>
              </a:spcBef>
            </a:pPr>
            <a:r>
              <a:rPr lang="en-US" sz="1200" b="0" i="0" u="none" strike="noStrike">
                <a:solidFill>
                  <a:srgbClr val="666666"/>
                </a:solidFill>
                <a:latin typeface="Noto Sans SC"/>
                <a:ea typeface="Noto Sans SC"/>
                <a:cs typeface="Noto Sans SC"/>
                <a:sym typeface="Noto Sans SC"/>
              </a:rPr>
              <a:t>统筹整体架构、进度和资源，确保项目按期高质量交付。</a:t>
            </a:r>
          </a:p>
        </p:txBody>
      </p:sp>
      <p:sp>
        <p:nvSpPr>
          <p:cNvPr id="9" name="AutoShape 9"/>
          <p:cNvSpPr/>
          <p:nvPr/>
        </p:nvSpPr>
        <p:spPr>
          <a:xfrm>
            <a:off x="6096000" y="4191000"/>
            <a:ext cx="2667000" cy="1206500"/>
          </a:xfrm>
          <a:prstGeom prst="roundRect">
            <a:avLst>
              <a:gd name="adj" fmla="val 842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096000" y="4191000"/>
            <a:ext cx="76200" cy="12065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350000" y="43434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算法工程师</a:t>
            </a:r>
            <a:endParaRPr lang="en-US" sz="1100"/>
          </a:p>
          <a:p>
            <a:pPr indent="0" algn="l">
              <a:lnSpc>
                <a:spcPct val="108333"/>
              </a:lnSpc>
              <a:spcBef>
                <a:spcPts val="600"/>
              </a:spcBef>
            </a:pPr>
            <a:r>
              <a:rPr lang="en-US" sz="1200" b="0" i="0" u="none" strike="noStrike">
                <a:solidFill>
                  <a:srgbClr val="666666"/>
                </a:solidFill>
                <a:latin typeface="Noto Sans SC"/>
                <a:ea typeface="Noto Sans SC"/>
                <a:cs typeface="Noto Sans SC"/>
                <a:sym typeface="Noto Sans SC"/>
              </a:rPr>
              <a:t>负责核心模型的设计、持续优化、模型训练与最终效果评估。</a:t>
            </a:r>
          </a:p>
        </p:txBody>
      </p:sp>
      <p:sp>
        <p:nvSpPr>
          <p:cNvPr id="12" name="AutoShape 12"/>
          <p:cNvSpPr/>
          <p:nvPr/>
        </p:nvSpPr>
        <p:spPr>
          <a:xfrm>
            <a:off x="6096000" y="5397500"/>
            <a:ext cx="2667000" cy="1206500"/>
          </a:xfrm>
          <a:prstGeom prst="roundRect">
            <a:avLst>
              <a:gd name="adj" fmla="val 842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096000" y="5397500"/>
            <a:ext cx="76200" cy="12065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50000" y="55499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数据工程师</a:t>
            </a:r>
            <a:endParaRPr lang="en-US" sz="1100"/>
          </a:p>
          <a:p>
            <a:pPr indent="0" algn="l">
              <a:lnSpc>
                <a:spcPct val="108333"/>
              </a:lnSpc>
              <a:spcBef>
                <a:spcPts val="600"/>
              </a:spcBef>
            </a:pPr>
            <a:r>
              <a:rPr lang="en-US" sz="1200" b="0" i="0" u="none" strike="noStrike">
                <a:solidFill>
                  <a:srgbClr val="666666"/>
                </a:solidFill>
                <a:latin typeface="Noto Sans SC"/>
                <a:ea typeface="Noto Sans SC"/>
                <a:cs typeface="Noto Sans SC"/>
                <a:sym typeface="Noto Sans SC"/>
              </a:rPr>
              <a:t>负责大规模语料库的构建、数据清洗和专业标注工作。</a:t>
            </a:r>
          </a:p>
        </p:txBody>
      </p:sp>
      <p:sp>
        <p:nvSpPr>
          <p:cNvPr id="15" name="AutoShape 15"/>
          <p:cNvSpPr/>
          <p:nvPr/>
        </p:nvSpPr>
        <p:spPr>
          <a:xfrm>
            <a:off x="8890000" y="2794000"/>
            <a:ext cx="2667000" cy="1778000"/>
          </a:xfrm>
          <a:prstGeom prst="roundRect">
            <a:avLst>
              <a:gd name="adj" fmla="val 5714"/>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8890000" y="2794000"/>
            <a:ext cx="76200" cy="1778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144000" y="29464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前端开发</a:t>
            </a:r>
            <a:endParaRPr lang="en-US" sz="1100"/>
          </a:p>
          <a:p>
            <a:pPr indent="0" algn="l">
              <a:lnSpc>
                <a:spcPct val="116666"/>
              </a:lnSpc>
              <a:spcBef>
                <a:spcPts val="800"/>
              </a:spcBef>
            </a:pPr>
            <a:r>
              <a:rPr lang="en-US" sz="1200" b="0" i="0" u="none" strike="noStrike">
                <a:solidFill>
                  <a:srgbClr val="666666"/>
                </a:solidFill>
                <a:latin typeface="Noto Sans SC"/>
                <a:ea typeface="Noto Sans SC"/>
                <a:cs typeface="Noto Sans SC"/>
                <a:sym typeface="Noto Sans SC"/>
              </a:rPr>
              <a:t>基于用户体验原则，负责设计和实现流畅、直观、用户友好的交互界面，连接技术与用户。</a:t>
            </a:r>
          </a:p>
        </p:txBody>
      </p:sp>
      <p:sp>
        <p:nvSpPr>
          <p:cNvPr id="18" name="AutoShape 18"/>
          <p:cNvSpPr/>
          <p:nvPr/>
        </p:nvSpPr>
        <p:spPr>
          <a:xfrm>
            <a:off x="8890000" y="4826000"/>
            <a:ext cx="2667000" cy="1778000"/>
          </a:xfrm>
          <a:prstGeom prst="roundRect">
            <a:avLst>
              <a:gd name="adj" fmla="val 5714"/>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8890000" y="4826000"/>
            <a:ext cx="76200" cy="17780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144000" y="49784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文学专家</a:t>
            </a:r>
            <a:endParaRPr lang="en-US" sz="1100"/>
          </a:p>
          <a:p>
            <a:pPr indent="0" algn="l">
              <a:lnSpc>
                <a:spcPct val="116666"/>
              </a:lnSpc>
              <a:spcBef>
                <a:spcPts val="800"/>
              </a:spcBef>
            </a:pPr>
            <a:r>
              <a:rPr lang="en-US" sz="1200" b="0" i="0" u="none" strike="noStrike">
                <a:solidFill>
                  <a:srgbClr val="666666"/>
                </a:solidFill>
                <a:latin typeface="Noto Sans SC"/>
                <a:ea typeface="Noto Sans SC"/>
                <a:cs typeface="Noto Sans SC"/>
                <a:sym typeface="Noto Sans SC"/>
              </a:rPr>
              <a:t>深度参与分类体系构建和标注标准制定，确保产品在内容理解与处理上的专业度与准确性。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l="21170" r="21170"/>
          <a:stretch>
            <a:fillRect/>
          </a:stretch>
        </p:blipFill>
        <p:spPr>
          <a:xfrm>
            <a:off x="508000" y="1524000"/>
            <a:ext cx="4953000" cy="4826000"/>
          </a:xfrm>
          <a:prstGeom prst="roundRect">
            <a:avLst>
              <a:gd name="adj" fmla="val 4210"/>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096000" y="635000"/>
            <a:ext cx="54864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数据集构建与处理</a:t>
            </a:r>
            <a:endParaRPr lang="en-US" sz="1100"/>
          </a:p>
        </p:txBody>
      </p:sp>
      <p:sp>
        <p:nvSpPr>
          <p:cNvPr id="5" name="AutoShape 5"/>
          <p:cNvSpPr/>
          <p:nvPr/>
        </p:nvSpPr>
        <p:spPr>
          <a:xfrm>
            <a:off x="6096000" y="1524000"/>
            <a:ext cx="54864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55555"/>
                </a:solidFill>
                <a:latin typeface="Noto Sans SC"/>
                <a:ea typeface="Noto Sans SC"/>
                <a:cs typeface="Noto Sans SC"/>
                <a:sym typeface="Noto Sans SC"/>
              </a:rPr>
              <a:t>高质量的数据集是模型成功的基石，我们通过多维度的构建策略夯实基础。</a:t>
            </a:r>
            <a:endParaRPr lang="en-US" sz="1100"/>
          </a:p>
        </p:txBody>
      </p:sp>
      <p:sp>
        <p:nvSpPr>
          <p:cNvPr id="6" name="AutoShape 6"/>
          <p:cNvSpPr/>
          <p:nvPr/>
        </p:nvSpPr>
        <p:spPr>
          <a:xfrm>
            <a:off x="6096000" y="2667000"/>
            <a:ext cx="5486400" cy="1841500"/>
          </a:xfrm>
          <a:prstGeom prst="roundRect">
            <a:avLst>
              <a:gd name="adj" fmla="val 827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6096000" y="2667000"/>
            <a:ext cx="76200" cy="18415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2921000"/>
            <a:ext cx="406400" cy="406400"/>
          </a:xfrm>
          <a:prstGeom prst="rect">
            <a:avLst/>
          </a:prstGeom>
        </p:spPr>
      </p:pic>
      <p:sp>
        <p:nvSpPr>
          <p:cNvPr id="9" name="AutoShape 9"/>
          <p:cNvSpPr/>
          <p:nvPr/>
        </p:nvSpPr>
        <p:spPr>
          <a:xfrm>
            <a:off x="6985000" y="2819400"/>
            <a:ext cx="4318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333333"/>
                </a:solidFill>
                <a:latin typeface="Noto Sans SC"/>
                <a:ea typeface="Noto Sans SC"/>
                <a:cs typeface="Noto Sans SC"/>
                <a:sym typeface="Noto Sans SC"/>
              </a:rPr>
              <a:t>数据收集</a:t>
            </a:r>
            <a:endParaRPr lang="en-US" sz="1100" dirty="0"/>
          </a:p>
          <a:p>
            <a:pPr indent="0" algn="l">
              <a:lnSpc>
                <a:spcPct val="125000"/>
              </a:lnSpc>
              <a:spcBef>
                <a:spcPts val="1000"/>
              </a:spcBef>
            </a:pPr>
            <a:r>
              <a:rPr lang="en-US" sz="1300" b="0" i="0" u="none" strike="noStrike" dirty="0">
                <a:solidFill>
                  <a:srgbClr val="555555"/>
                </a:solidFill>
                <a:latin typeface="Noto Sans SC"/>
                <a:ea typeface="Noto Sans SC"/>
                <a:cs typeface="Noto Sans SC"/>
                <a:sym typeface="Noto Sans SC"/>
              </a:rPr>
              <a:t>•</a:t>
            </a:r>
            <a:r>
              <a:rPr lang="en-US" sz="1300" b="1" i="0" u="none" strike="noStrike" dirty="0">
                <a:solidFill>
                  <a:srgbClr val="555555"/>
                </a:solidFill>
                <a:latin typeface="Noto Sans SC"/>
                <a:ea typeface="Noto Sans SC"/>
                <a:cs typeface="Noto Sans SC"/>
                <a:sym typeface="Noto Sans SC"/>
              </a:rPr>
              <a:t>规模：</a:t>
            </a:r>
            <a:r>
              <a:rPr lang="en-US" sz="1300" b="0" i="0" u="none" strike="noStrike" dirty="0">
                <a:solidFill>
                  <a:srgbClr val="555555"/>
                </a:solidFill>
                <a:latin typeface="Noto Sans SC"/>
                <a:ea typeface="Noto Sans SC"/>
                <a:cs typeface="Noto Sans SC"/>
                <a:sym typeface="Noto Sans SC"/>
              </a:rPr>
              <a:t>全网范围筛选，共收集</a:t>
            </a:r>
            <a:r>
              <a:rPr lang="en-US" sz="1300" b="1" i="0" u="none" strike="noStrike" dirty="0">
                <a:solidFill>
                  <a:srgbClr val="D4A574"/>
                </a:solidFill>
                <a:latin typeface="Noto Sans SC"/>
                <a:ea typeface="Noto Sans SC"/>
                <a:cs typeface="Noto Sans SC"/>
                <a:sym typeface="Noto Sans SC"/>
              </a:rPr>
              <a:t>50万篇</a:t>
            </a:r>
            <a:r>
              <a:rPr lang="en-US" sz="1300" b="0" i="0" u="none" strike="noStrike" dirty="0">
                <a:solidFill>
                  <a:srgbClr val="555555"/>
                </a:solidFill>
                <a:latin typeface="Noto Sans SC"/>
                <a:ea typeface="Noto Sans SC"/>
                <a:cs typeface="Noto Sans SC"/>
                <a:sym typeface="Noto Sans SC"/>
              </a:rPr>
              <a:t>不同时期的小说样本。</a:t>
            </a:r>
            <a:br>
              <a:rPr lang="en-US" sz="1600" b="0" i="0" u="none" strike="noStrike" dirty="0">
                <a:solidFill>
                  <a:srgbClr val="1F2329"/>
                </a:solidFill>
                <a:latin typeface="Noto Sans SC"/>
                <a:ea typeface="Noto Sans SC"/>
                <a:cs typeface="Noto Sans SC"/>
                <a:sym typeface="Noto Sans SC"/>
              </a:rPr>
            </a:br>
            <a:r>
              <a:rPr lang="en-US" sz="1300" b="0" i="0" u="none" strike="noStrike" dirty="0">
                <a:solidFill>
                  <a:srgbClr val="555555"/>
                </a:solidFill>
                <a:latin typeface="Noto Sans SC"/>
                <a:ea typeface="Noto Sans SC"/>
                <a:cs typeface="Noto Sans SC"/>
                <a:sym typeface="Noto Sans SC"/>
              </a:rPr>
              <a:t>•</a:t>
            </a:r>
            <a:r>
              <a:rPr lang="en-US" sz="1300" b="1" i="0" u="none" strike="noStrike" dirty="0">
                <a:solidFill>
                  <a:srgbClr val="555555"/>
                </a:solidFill>
                <a:latin typeface="Noto Sans SC"/>
                <a:ea typeface="Noto Sans SC"/>
                <a:cs typeface="Noto Sans SC"/>
                <a:sym typeface="Noto Sans SC"/>
              </a:rPr>
              <a:t>类别：</a:t>
            </a:r>
            <a:r>
              <a:rPr lang="en-US" sz="1300" b="0" i="0" u="none" strike="noStrike" dirty="0">
                <a:solidFill>
                  <a:srgbClr val="555555"/>
                </a:solidFill>
                <a:latin typeface="Noto Sans SC"/>
                <a:ea typeface="Noto Sans SC"/>
                <a:cs typeface="Noto Sans SC"/>
                <a:sym typeface="Noto Sans SC"/>
              </a:rPr>
              <a:t>题材广泛，覆盖</a:t>
            </a:r>
            <a:r>
              <a:rPr lang="en-US" sz="1300" b="1" i="0" u="none" strike="noStrike" dirty="0">
                <a:solidFill>
                  <a:srgbClr val="D4A574"/>
                </a:solidFill>
                <a:latin typeface="Noto Sans SC"/>
                <a:ea typeface="Noto Sans SC"/>
                <a:cs typeface="Noto Sans SC"/>
                <a:sym typeface="Noto Sans SC"/>
              </a:rPr>
              <a:t>20个大类</a:t>
            </a:r>
            <a:r>
              <a:rPr lang="en-US" sz="1300" b="0" i="0" u="none" strike="noStrike" dirty="0">
                <a:solidFill>
                  <a:srgbClr val="555555"/>
                </a:solidFill>
                <a:latin typeface="Noto Sans SC"/>
                <a:ea typeface="Noto Sans SC"/>
                <a:cs typeface="Noto Sans SC"/>
                <a:sym typeface="Noto Sans SC"/>
              </a:rPr>
              <a:t>和</a:t>
            </a:r>
            <a:r>
              <a:rPr lang="en-US" sz="1300" b="1" i="0" u="none" strike="noStrike" dirty="0">
                <a:solidFill>
                  <a:srgbClr val="D4A574"/>
                </a:solidFill>
                <a:latin typeface="Noto Sans SC"/>
                <a:ea typeface="Noto Sans SC"/>
                <a:cs typeface="Noto Sans SC"/>
                <a:sym typeface="Noto Sans SC"/>
              </a:rPr>
              <a:t>100个子类</a:t>
            </a:r>
            <a:r>
              <a:rPr lang="en-US" sz="1300" b="0" i="0" u="none" strike="noStrike" dirty="0">
                <a:solidFill>
                  <a:srgbClr val="555555"/>
                </a:solidFill>
                <a:latin typeface="Noto Sans SC"/>
                <a:ea typeface="Noto Sans SC"/>
                <a:cs typeface="Noto Sans SC"/>
                <a:sym typeface="Noto Sans SC"/>
              </a:rPr>
              <a:t>，满足多样化需求。</a:t>
            </a:r>
            <a:br>
              <a:rPr lang="en-US" sz="1600" b="0" i="0" u="none" strike="noStrike" dirty="0">
                <a:solidFill>
                  <a:srgbClr val="1F2329"/>
                </a:solidFill>
                <a:latin typeface="Noto Sans SC"/>
                <a:ea typeface="Noto Sans SC"/>
                <a:cs typeface="Noto Sans SC"/>
                <a:sym typeface="Noto Sans SC"/>
              </a:rPr>
            </a:br>
            <a:r>
              <a:rPr lang="en-US" sz="1300" b="0" i="0" u="none" strike="noStrike" dirty="0">
                <a:solidFill>
                  <a:srgbClr val="555555"/>
                </a:solidFill>
                <a:latin typeface="Noto Sans SC"/>
                <a:ea typeface="Noto Sans SC"/>
                <a:cs typeface="Noto Sans SC"/>
                <a:sym typeface="Noto Sans SC"/>
              </a:rPr>
              <a:t>•</a:t>
            </a:r>
            <a:r>
              <a:rPr lang="en-US" sz="1300" b="1" i="0" u="none" strike="noStrike" dirty="0" err="1">
                <a:solidFill>
                  <a:srgbClr val="555555"/>
                </a:solidFill>
                <a:latin typeface="Noto Sans SC"/>
                <a:ea typeface="Noto Sans SC"/>
                <a:cs typeface="Noto Sans SC"/>
                <a:sym typeface="Noto Sans SC"/>
              </a:rPr>
              <a:t>来源：</a:t>
            </a:r>
            <a:r>
              <a:rPr lang="en-US" sz="1300" b="0" i="0" u="none" strike="noStrike" dirty="0" err="1">
                <a:solidFill>
                  <a:srgbClr val="555555"/>
                </a:solidFill>
                <a:latin typeface="Noto Sans SC"/>
                <a:ea typeface="Noto Sans SC"/>
                <a:cs typeface="Noto Sans SC"/>
                <a:sym typeface="Noto Sans SC"/>
              </a:rPr>
              <a:t>整合多渠道公开资源，确保数据来源的广泛性与多样性</a:t>
            </a:r>
            <a:r>
              <a:rPr lang="en-US" sz="1300" b="0" i="0" u="none" strike="noStrike" dirty="0">
                <a:solidFill>
                  <a:srgbClr val="555555"/>
                </a:solidFill>
                <a:latin typeface="Noto Sans SC"/>
                <a:ea typeface="Noto Sans SC"/>
                <a:cs typeface="Noto Sans SC"/>
                <a:sym typeface="Noto Sans SC"/>
              </a:rPr>
              <a:t>。</a:t>
            </a:r>
          </a:p>
        </p:txBody>
      </p:sp>
      <p:sp>
        <p:nvSpPr>
          <p:cNvPr id="10" name="AutoShape 10"/>
          <p:cNvSpPr/>
          <p:nvPr/>
        </p:nvSpPr>
        <p:spPr>
          <a:xfrm>
            <a:off x="6096000" y="4699000"/>
            <a:ext cx="5486400" cy="1841500"/>
          </a:xfrm>
          <a:prstGeom prst="roundRect">
            <a:avLst>
              <a:gd name="adj" fmla="val 827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096000" y="4699000"/>
            <a:ext cx="76200" cy="18415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4953000"/>
            <a:ext cx="406400" cy="406400"/>
          </a:xfrm>
          <a:prstGeom prst="rect">
            <a:avLst/>
          </a:prstGeom>
        </p:spPr>
      </p:pic>
      <p:sp>
        <p:nvSpPr>
          <p:cNvPr id="13" name="AutoShape 13"/>
          <p:cNvSpPr/>
          <p:nvPr/>
        </p:nvSpPr>
        <p:spPr>
          <a:xfrm>
            <a:off x="6985000" y="4851400"/>
            <a:ext cx="4318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333333"/>
                </a:solidFill>
                <a:latin typeface="Noto Sans SC"/>
                <a:ea typeface="Noto Sans SC"/>
                <a:cs typeface="Noto Sans SC"/>
                <a:sym typeface="Noto Sans SC"/>
              </a:rPr>
              <a:t>数据预处理</a:t>
            </a:r>
            <a:endParaRPr lang="en-US" sz="1100" dirty="0"/>
          </a:p>
          <a:p>
            <a:pPr indent="0" algn="l">
              <a:lnSpc>
                <a:spcPct val="125000"/>
              </a:lnSpc>
              <a:spcBef>
                <a:spcPts val="1000"/>
              </a:spcBef>
            </a:pPr>
            <a:r>
              <a:rPr lang="en-US" sz="1300" b="0" i="0" u="none" strike="noStrike" dirty="0">
                <a:solidFill>
                  <a:srgbClr val="555555"/>
                </a:solidFill>
                <a:latin typeface="Noto Sans SC"/>
                <a:ea typeface="Noto Sans SC"/>
                <a:cs typeface="Noto Sans SC"/>
                <a:sym typeface="Noto Sans SC"/>
              </a:rPr>
              <a:t>•</a:t>
            </a:r>
            <a:r>
              <a:rPr lang="en-US" sz="1300" b="1" i="0" u="none" strike="noStrike" dirty="0" err="1">
                <a:solidFill>
                  <a:srgbClr val="555555"/>
                </a:solidFill>
                <a:latin typeface="Noto Sans SC"/>
                <a:ea typeface="Noto Sans SC"/>
                <a:cs typeface="Noto Sans SC"/>
                <a:sym typeface="Noto Sans SC"/>
              </a:rPr>
              <a:t>文本清洗：</a:t>
            </a:r>
            <a:r>
              <a:rPr lang="en-US" sz="1300" b="0" i="0" u="none" strike="noStrike" dirty="0" err="1">
                <a:solidFill>
                  <a:srgbClr val="555555"/>
                </a:solidFill>
                <a:latin typeface="Noto Sans SC"/>
                <a:ea typeface="Noto Sans SC"/>
                <a:cs typeface="Noto Sans SC"/>
                <a:sym typeface="Noto Sans SC"/>
              </a:rPr>
              <a:t>剔除重复、低质、噪声数据，保障数据纯净度</a:t>
            </a:r>
            <a:br>
              <a:rPr lang="en-US" sz="1600" b="0" i="0" u="none" strike="noStrike" dirty="0">
                <a:solidFill>
                  <a:srgbClr val="1F2329"/>
                </a:solidFill>
                <a:latin typeface="Noto Sans SC"/>
                <a:ea typeface="Noto Sans SC"/>
                <a:cs typeface="Noto Sans SC"/>
                <a:sym typeface="Noto Sans SC"/>
              </a:rPr>
            </a:br>
            <a:r>
              <a:rPr lang="en-US" sz="1300" b="0" i="0" u="none" strike="noStrike" dirty="0">
                <a:solidFill>
                  <a:srgbClr val="555555"/>
                </a:solidFill>
                <a:latin typeface="Noto Sans SC"/>
                <a:ea typeface="Noto Sans SC"/>
                <a:cs typeface="Noto Sans SC"/>
                <a:sym typeface="Noto Sans SC"/>
              </a:rPr>
              <a:t>•</a:t>
            </a:r>
            <a:r>
              <a:rPr lang="en-US" sz="1300" b="1" i="0" u="none" strike="noStrike" dirty="0" err="1">
                <a:solidFill>
                  <a:srgbClr val="555555"/>
                </a:solidFill>
                <a:latin typeface="Noto Sans SC"/>
                <a:ea typeface="Noto Sans SC"/>
                <a:cs typeface="Noto Sans SC"/>
                <a:sym typeface="Noto Sans SC"/>
              </a:rPr>
              <a:t>分词与标注：</a:t>
            </a:r>
            <a:r>
              <a:rPr lang="en-US" sz="1300" b="0" i="0" u="none" strike="noStrike" dirty="0" err="1">
                <a:solidFill>
                  <a:srgbClr val="555555"/>
                </a:solidFill>
                <a:latin typeface="Noto Sans SC"/>
                <a:ea typeface="Noto Sans SC"/>
                <a:cs typeface="Noto Sans SC"/>
                <a:sym typeface="Noto Sans SC"/>
              </a:rPr>
              <a:t>由专业的文学与AI专家团队进行双重人工审核与标注</a:t>
            </a:r>
            <a:r>
              <a:rPr lang="en-US" sz="1300" b="0" i="0" u="none" strike="noStrike" dirty="0">
                <a:solidFill>
                  <a:srgbClr val="555555"/>
                </a:solidFill>
                <a:latin typeface="Noto Sans SC"/>
                <a:ea typeface="Noto Sans SC"/>
                <a:cs typeface="Noto Sans SC"/>
                <a:sym typeface="Noto Sans SC"/>
              </a:rPr>
              <a:t>。</a:t>
            </a:r>
            <a:br>
              <a:rPr lang="en-US" sz="1600" b="0" i="0" u="none" strike="noStrike" dirty="0">
                <a:solidFill>
                  <a:srgbClr val="1F2329"/>
                </a:solidFill>
                <a:latin typeface="Noto Sans SC"/>
                <a:ea typeface="Noto Sans SC"/>
                <a:cs typeface="Noto Sans SC"/>
                <a:sym typeface="Noto Sans SC"/>
              </a:rPr>
            </a:br>
            <a:r>
              <a:rPr lang="en-US" sz="1300" b="0" i="0" u="none" strike="noStrike" dirty="0">
                <a:solidFill>
                  <a:srgbClr val="555555"/>
                </a:solidFill>
                <a:latin typeface="Noto Sans SC"/>
                <a:ea typeface="Noto Sans SC"/>
                <a:cs typeface="Noto Sans SC"/>
                <a:sym typeface="Noto Sans SC"/>
              </a:rPr>
              <a:t>•</a:t>
            </a:r>
            <a:r>
              <a:rPr lang="en-US" sz="1300" b="1" i="0" u="none" strike="noStrike" dirty="0" err="1">
                <a:solidFill>
                  <a:srgbClr val="555555"/>
                </a:solidFill>
                <a:latin typeface="Noto Sans SC"/>
                <a:ea typeface="Noto Sans SC"/>
                <a:cs typeface="Noto Sans SC"/>
                <a:sym typeface="Noto Sans SC"/>
              </a:rPr>
              <a:t>数据增强：</a:t>
            </a:r>
            <a:r>
              <a:rPr lang="en-US" sz="1300" b="0" i="0" u="none" strike="noStrike" dirty="0" err="1">
                <a:solidFill>
                  <a:srgbClr val="555555"/>
                </a:solidFill>
                <a:latin typeface="Noto Sans SC"/>
                <a:ea typeface="Noto Sans SC"/>
                <a:cs typeface="Noto Sans SC"/>
                <a:sym typeface="Noto Sans SC"/>
              </a:rPr>
              <a:t>采用同义词替换、句式变换等策略，进一步扩充有效样本</a:t>
            </a:r>
            <a:r>
              <a:rPr lang="en-US" sz="1300" b="0" i="0" u="none" strike="noStrike" dirty="0">
                <a:solidFill>
                  <a:srgbClr val="555555"/>
                </a:solidFill>
                <a:latin typeface="Noto Sans SC"/>
                <a:ea typeface="Noto Sans SC"/>
                <a:cs typeface="Noto Sans SC"/>
                <a:sym typeface="Noto Sans SC"/>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D4A574"/>
                </a:solidFill>
                <a:latin typeface="Noto Sans SC"/>
                <a:ea typeface="Noto Sans SC"/>
                <a:cs typeface="Noto Sans SC"/>
                <a:sym typeface="Noto Sans SC"/>
              </a:rPr>
              <a:t>04</a:t>
            </a:r>
            <a:endParaRPr lang="en-US" sz="1100"/>
          </a:p>
        </p:txBody>
      </p:sp>
      <p:sp>
        <p:nvSpPr>
          <p:cNvPr id="4" name="AutoShape 4"/>
          <p:cNvSpPr/>
          <p:nvPr/>
        </p:nvSpPr>
        <p:spPr>
          <a:xfrm>
            <a:off x="5588000" y="3683000"/>
            <a:ext cx="1016000" cy="508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测试验证与成果</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300">
                <a:solidFill>
                  <a:srgbClr val="777777"/>
                </a:solidFill>
                <a:latin typeface="Noto Sans SC"/>
                <a:ea typeface="Noto Sans SC"/>
                <a:cs typeface="Noto Sans SC"/>
                <a:sym typeface="Noto Sans SC"/>
              </a:rPr>
              <a:t>TESTING &amp; RESULTS</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核心成果展示</a:t>
            </a:r>
            <a:endParaRPr lang="en-US" sz="1100"/>
          </a:p>
        </p:txBody>
      </p:sp>
      <p:sp>
        <p:nvSpPr>
          <p:cNvPr id="3" name="AutoShape 3"/>
          <p:cNvSpPr/>
          <p:nvPr/>
        </p:nvSpPr>
        <p:spPr>
          <a:xfrm>
            <a:off x="762000" y="1778000"/>
            <a:ext cx="5207000" cy="2159000"/>
          </a:xfrm>
          <a:prstGeom prst="roundRect">
            <a:avLst>
              <a:gd name="adj" fmla="val 7058"/>
            </a:avLst>
          </a:prstGeom>
          <a:solidFill>
            <a:srgbClr val="FFFFFF">
              <a:alpha val="95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000" y="2298700"/>
            <a:ext cx="1016000" cy="1016000"/>
          </a:xfrm>
          <a:prstGeom prst="rect">
            <a:avLst/>
          </a:prstGeom>
        </p:spPr>
      </p:pic>
      <p:sp>
        <p:nvSpPr>
          <p:cNvPr id="5" name="AutoShape 5"/>
          <p:cNvSpPr/>
          <p:nvPr/>
        </p:nvSpPr>
        <p:spPr>
          <a:xfrm>
            <a:off x="1143000" y="20955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D4A574"/>
                </a:solidFill>
                <a:latin typeface="Noto Sans SC"/>
                <a:ea typeface="Noto Sans SC"/>
                <a:cs typeface="Noto Sans SC"/>
                <a:sym typeface="Noto Sans SC"/>
              </a:rPr>
              <a:t>92.3%</a:t>
            </a:r>
            <a:endParaRPr lang="en-US" sz="1100"/>
          </a:p>
        </p:txBody>
      </p:sp>
      <p:sp>
        <p:nvSpPr>
          <p:cNvPr id="6" name="AutoShape 6"/>
          <p:cNvSpPr/>
          <p:nvPr/>
        </p:nvSpPr>
        <p:spPr>
          <a:xfrm>
            <a:off x="1143000" y="2921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平均F1值</a:t>
            </a:r>
            <a:endParaRPr lang="en-US" sz="1100"/>
          </a:p>
          <a:p>
            <a:pPr indent="0" algn="l">
              <a:lnSpc>
                <a:spcPct val="108333"/>
              </a:lnSpc>
            </a:pPr>
            <a:r>
              <a:rPr lang="en-US" sz="1300" b="0" i="0" u="none" strike="noStrike">
                <a:solidFill>
                  <a:srgbClr val="666666"/>
                </a:solidFill>
                <a:latin typeface="Noto Sans SC"/>
                <a:ea typeface="Noto Sans SC"/>
                <a:cs typeface="Noto Sans SC"/>
                <a:sym typeface="Noto Sans SC"/>
              </a:rPr>
              <a:t>分类准确率高，精确率和召回率达到很好平衡。</a:t>
            </a:r>
          </a:p>
        </p:txBody>
      </p:sp>
      <p:sp>
        <p:nvSpPr>
          <p:cNvPr id="7" name="AutoShape 7"/>
          <p:cNvSpPr/>
          <p:nvPr/>
        </p:nvSpPr>
        <p:spPr>
          <a:xfrm>
            <a:off x="6223000" y="1778000"/>
            <a:ext cx="5207000" cy="2159000"/>
          </a:xfrm>
          <a:prstGeom prst="roundRect">
            <a:avLst>
              <a:gd name="adj" fmla="val 7058"/>
            </a:avLst>
          </a:prstGeom>
          <a:solidFill>
            <a:srgbClr val="FFFFFF">
              <a:alpha val="95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06000" y="2298700"/>
            <a:ext cx="1016000" cy="1016000"/>
          </a:xfrm>
          <a:prstGeom prst="rect">
            <a:avLst/>
          </a:prstGeom>
        </p:spPr>
      </p:pic>
      <p:sp>
        <p:nvSpPr>
          <p:cNvPr id="9" name="AutoShape 9"/>
          <p:cNvSpPr/>
          <p:nvPr/>
        </p:nvSpPr>
        <p:spPr>
          <a:xfrm>
            <a:off x="6604000" y="20955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D4A574"/>
                </a:solidFill>
                <a:latin typeface="Noto Sans SC"/>
                <a:ea typeface="Noto Sans SC"/>
                <a:cs typeface="Noto Sans SC"/>
                <a:sym typeface="Noto Sans SC"/>
              </a:rPr>
              <a:t>0.87</a:t>
            </a:r>
            <a:endParaRPr lang="en-US" sz="1100"/>
          </a:p>
        </p:txBody>
      </p:sp>
      <p:sp>
        <p:nvSpPr>
          <p:cNvPr id="10" name="AutoShape 10"/>
          <p:cNvSpPr/>
          <p:nvPr/>
        </p:nvSpPr>
        <p:spPr>
          <a:xfrm>
            <a:off x="6604000" y="2921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Kappa系数</a:t>
            </a:r>
            <a:endParaRPr lang="en-US" sz="1100"/>
          </a:p>
          <a:p>
            <a:pPr indent="0" algn="l">
              <a:lnSpc>
                <a:spcPct val="108333"/>
              </a:lnSpc>
            </a:pPr>
            <a:r>
              <a:rPr lang="en-US" sz="1300" b="0" i="0" u="none" strike="noStrike">
                <a:solidFill>
                  <a:srgbClr val="666666"/>
                </a:solidFill>
                <a:latin typeface="Noto Sans SC"/>
                <a:ea typeface="Noto Sans SC"/>
                <a:cs typeface="Noto Sans SC"/>
                <a:sym typeface="Noto Sans SC"/>
              </a:rPr>
              <a:t>与文学专家判断高度吻合（几乎完美一致）。</a:t>
            </a:r>
          </a:p>
        </p:txBody>
      </p:sp>
      <p:sp>
        <p:nvSpPr>
          <p:cNvPr id="11" name="AutoShape 11"/>
          <p:cNvSpPr/>
          <p:nvPr/>
        </p:nvSpPr>
        <p:spPr>
          <a:xfrm>
            <a:off x="762000" y="4191000"/>
            <a:ext cx="5207000" cy="2159000"/>
          </a:xfrm>
          <a:prstGeom prst="roundRect">
            <a:avLst>
              <a:gd name="adj" fmla="val 7058"/>
            </a:avLst>
          </a:prstGeom>
          <a:solidFill>
            <a:srgbClr val="FFFFFF">
              <a:alpha val="95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45000" y="4711700"/>
            <a:ext cx="1016000" cy="1016000"/>
          </a:xfrm>
          <a:prstGeom prst="rect">
            <a:avLst/>
          </a:prstGeom>
        </p:spPr>
      </p:pic>
      <p:sp>
        <p:nvSpPr>
          <p:cNvPr id="13" name="AutoShape 13"/>
          <p:cNvSpPr/>
          <p:nvPr/>
        </p:nvSpPr>
        <p:spPr>
          <a:xfrm>
            <a:off x="1143000" y="45085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D4A574"/>
                </a:solidFill>
                <a:latin typeface="Noto Sans SC"/>
                <a:ea typeface="Noto Sans SC"/>
                <a:cs typeface="Noto Sans SC"/>
                <a:sym typeface="Noto Sans SC"/>
              </a:rPr>
              <a:t>+23.5%</a:t>
            </a:r>
            <a:endParaRPr lang="en-US" sz="1100"/>
          </a:p>
        </p:txBody>
      </p:sp>
      <p:sp>
        <p:nvSpPr>
          <p:cNvPr id="14" name="AutoShape 14"/>
          <p:cNvSpPr/>
          <p:nvPr/>
        </p:nvSpPr>
        <p:spPr>
          <a:xfrm>
            <a:off x="1143000" y="5334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点击率提升</a:t>
            </a:r>
            <a:endParaRPr lang="en-US" sz="1100"/>
          </a:p>
          <a:p>
            <a:pPr indent="0" algn="l">
              <a:lnSpc>
                <a:spcPct val="108333"/>
              </a:lnSpc>
            </a:pPr>
            <a:r>
              <a:rPr lang="en-US" sz="1300" b="0" i="0" u="none" strike="noStrike">
                <a:solidFill>
                  <a:srgbClr val="666666"/>
                </a:solidFill>
                <a:latin typeface="Noto Sans SC"/>
                <a:ea typeface="Noto Sans SC"/>
                <a:cs typeface="Noto Sans SC"/>
                <a:sym typeface="Noto Sans SC"/>
              </a:rPr>
              <a:t>用户更愿意点击系统推荐的内容。</a:t>
            </a:r>
          </a:p>
        </p:txBody>
      </p:sp>
      <p:sp>
        <p:nvSpPr>
          <p:cNvPr id="15" name="AutoShape 15"/>
          <p:cNvSpPr/>
          <p:nvPr/>
        </p:nvSpPr>
        <p:spPr>
          <a:xfrm>
            <a:off x="6223000" y="4191000"/>
            <a:ext cx="5207000" cy="2159000"/>
          </a:xfrm>
          <a:prstGeom prst="roundRect">
            <a:avLst>
              <a:gd name="adj" fmla="val 7058"/>
            </a:avLst>
          </a:prstGeom>
          <a:solidFill>
            <a:srgbClr val="FFFFFF">
              <a:alpha val="95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06000" y="4711700"/>
            <a:ext cx="1016000" cy="1016000"/>
          </a:xfrm>
          <a:prstGeom prst="rect">
            <a:avLst/>
          </a:prstGeom>
        </p:spPr>
      </p:pic>
      <p:sp>
        <p:nvSpPr>
          <p:cNvPr id="17" name="AutoShape 17"/>
          <p:cNvSpPr/>
          <p:nvPr/>
        </p:nvSpPr>
        <p:spPr>
          <a:xfrm>
            <a:off x="6604000" y="45085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D4A574"/>
                </a:solidFill>
                <a:latin typeface="Noto Sans SC"/>
                <a:ea typeface="Noto Sans SC"/>
                <a:cs typeface="Noto Sans SC"/>
                <a:sym typeface="Noto Sans SC"/>
              </a:rPr>
              <a:t>+18.2%</a:t>
            </a:r>
            <a:endParaRPr lang="en-US" sz="1100"/>
          </a:p>
        </p:txBody>
      </p:sp>
      <p:sp>
        <p:nvSpPr>
          <p:cNvPr id="18" name="AutoShape 18"/>
          <p:cNvSpPr/>
          <p:nvPr/>
        </p:nvSpPr>
        <p:spPr>
          <a:xfrm>
            <a:off x="6604000" y="5334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阅读时长增加</a:t>
            </a:r>
            <a:endParaRPr lang="en-US" sz="1100"/>
          </a:p>
          <a:p>
            <a:pPr indent="0" algn="l">
              <a:lnSpc>
                <a:spcPct val="108333"/>
              </a:lnSpc>
            </a:pPr>
            <a:r>
              <a:rPr lang="en-US" sz="1300" b="0" i="0" u="none" strike="noStrike">
                <a:solidFill>
                  <a:srgbClr val="666666"/>
                </a:solidFill>
                <a:latin typeface="Noto Sans SC"/>
                <a:ea typeface="Noto Sans SC"/>
                <a:cs typeface="Noto Sans SC"/>
                <a:sym typeface="Noto Sans SC"/>
              </a:rPr>
              <a:t>推荐内容更符合用户兴趣，有效提升用户粘性。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D4A574"/>
                </a:solidFill>
                <a:latin typeface="Noto Sans SC"/>
                <a:ea typeface="Noto Sans SC"/>
                <a:cs typeface="Noto Sans SC"/>
                <a:sym typeface="Noto Sans SC"/>
              </a:rPr>
              <a:t>05</a:t>
            </a:r>
            <a:endParaRPr lang="en-US" sz="1100"/>
          </a:p>
        </p:txBody>
      </p:sp>
      <p:sp>
        <p:nvSpPr>
          <p:cNvPr id="3" name="AutoShape 3"/>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结论与未来展望</a:t>
            </a:r>
            <a:endParaRPr lang="en-US" sz="1100"/>
          </a:p>
        </p:txBody>
      </p:sp>
      <p:sp>
        <p:nvSpPr>
          <p:cNvPr id="4" name="AutoShape 4"/>
          <p:cNvSpPr/>
          <p:nvPr/>
        </p:nvSpPr>
        <p:spPr>
          <a:xfrm>
            <a:off x="5588000" y="4826000"/>
            <a:ext cx="1016000" cy="508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66666"/>
                </a:solidFill>
                <a:latin typeface="Noto Sans SC"/>
                <a:ea typeface="Noto Sans SC"/>
                <a:cs typeface="Noto Sans SC"/>
                <a:sym typeface="Noto Sans SC"/>
              </a:rPr>
              <a:t>CONCLUSION &amp; FUTURE WORK</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总结与未来展望</a:t>
            </a:r>
            <a:endParaRPr lang="en-US" sz="1100"/>
          </a:p>
        </p:txBody>
      </p:sp>
      <p:sp>
        <p:nvSpPr>
          <p:cNvPr id="4" name="AutoShape 4"/>
          <p:cNvSpPr/>
          <p:nvPr/>
        </p:nvSpPr>
        <p:spPr>
          <a:xfrm>
            <a:off x="762000" y="1778000"/>
            <a:ext cx="5207000" cy="4572000"/>
          </a:xfrm>
          <a:prstGeom prst="roundRect">
            <a:avLst>
              <a:gd name="adj" fmla="val 3333"/>
            </a:avLst>
          </a:prstGeom>
          <a:solidFill>
            <a:srgbClr val="FFFFFF">
              <a:alpha val="100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66800" y="2159000"/>
            <a:ext cx="45974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D4A574"/>
                </a:solidFill>
                <a:latin typeface="Noto Sans SC"/>
                <a:ea typeface="Noto Sans SC"/>
                <a:cs typeface="Noto Sans SC"/>
                <a:sym typeface="Noto Sans SC"/>
              </a:rPr>
              <a:t>核心研究结论</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3048000"/>
            <a:ext cx="355600" cy="355600"/>
          </a:xfrm>
          <a:prstGeom prst="rect">
            <a:avLst/>
          </a:prstGeom>
        </p:spPr>
      </p:pic>
      <p:sp>
        <p:nvSpPr>
          <p:cNvPr id="8" name="AutoShape 8"/>
          <p:cNvSpPr/>
          <p:nvPr/>
        </p:nvSpPr>
        <p:spPr>
          <a:xfrm>
            <a:off x="1651000" y="29972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33333"/>
                </a:solidFill>
                <a:latin typeface="Noto Sans SC"/>
                <a:ea typeface="Noto Sans SC"/>
                <a:cs typeface="Noto Sans SC"/>
                <a:sym typeface="Noto Sans SC"/>
              </a:rPr>
              <a:t>AI Agent 架构有效性得到验证</a:t>
            </a:r>
            <a:endParaRPr lang="en-US" sz="1100"/>
          </a:p>
          <a:p>
            <a:pPr indent="0" algn="l">
              <a:lnSpc>
                <a:spcPct val="108333"/>
              </a:lnSpc>
              <a:spcBef>
                <a:spcPts val="600"/>
              </a:spcBef>
            </a:pPr>
            <a:r>
              <a:rPr lang="en-US" sz="1300" b="0" i="0" u="none" strike="noStrike">
                <a:solidFill>
                  <a:srgbClr val="666666"/>
                </a:solidFill>
                <a:latin typeface="Noto Sans SC"/>
                <a:ea typeface="Noto Sans SC"/>
                <a:cs typeface="Noto Sans SC"/>
                <a:sym typeface="Noto Sans SC"/>
              </a:rPr>
              <a:t>分类准确性超过传统方法约15个百分点，在复杂文本处理任务中表现出更强的鲁棒性。</a:t>
            </a: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4191000"/>
            <a:ext cx="355600" cy="355600"/>
          </a:xfrm>
          <a:prstGeom prst="rect">
            <a:avLst/>
          </a:prstGeom>
        </p:spPr>
      </p:pic>
      <p:sp>
        <p:nvSpPr>
          <p:cNvPr id="10" name="AutoShape 10"/>
          <p:cNvSpPr/>
          <p:nvPr/>
        </p:nvSpPr>
        <p:spPr>
          <a:xfrm>
            <a:off x="1651000" y="41402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33333"/>
                </a:solidFill>
                <a:latin typeface="Noto Sans SC"/>
                <a:ea typeface="Noto Sans SC"/>
                <a:cs typeface="Noto Sans SC"/>
                <a:sym typeface="Noto Sans SC"/>
              </a:rPr>
              <a:t>多模态特征融合显著提升性能</a:t>
            </a:r>
            <a:endParaRPr lang="en-US" sz="1100"/>
          </a:p>
          <a:p>
            <a:pPr indent="0" algn="l">
              <a:lnSpc>
                <a:spcPct val="108333"/>
              </a:lnSpc>
              <a:spcBef>
                <a:spcPts val="600"/>
              </a:spcBef>
            </a:pPr>
            <a:r>
              <a:rPr lang="en-US" sz="1300" b="0" i="0" u="none" strike="noStrike">
                <a:solidFill>
                  <a:srgbClr val="666666"/>
                </a:solidFill>
                <a:latin typeface="Noto Sans SC"/>
                <a:ea typeface="Noto Sans SC"/>
                <a:cs typeface="Noto Sans SC"/>
                <a:sym typeface="Noto Sans SC"/>
              </a:rPr>
              <a:t>通过深度结合文本语义特征与网络结构特征，模型在信息提取与理解上展现出更优的综合性能。</a:t>
            </a: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66800" y="5270500"/>
            <a:ext cx="355600" cy="355600"/>
          </a:xfrm>
          <a:prstGeom prst="rect">
            <a:avLst/>
          </a:prstGeom>
        </p:spPr>
      </p:pic>
      <p:sp>
        <p:nvSpPr>
          <p:cNvPr id="12" name="AutoShape 12"/>
          <p:cNvSpPr/>
          <p:nvPr/>
        </p:nvSpPr>
        <p:spPr>
          <a:xfrm>
            <a:off x="1651000" y="52197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33333"/>
                </a:solidFill>
                <a:latin typeface="Noto Sans SC"/>
                <a:ea typeface="Noto Sans SC"/>
                <a:cs typeface="Noto Sans SC"/>
                <a:sym typeface="Noto Sans SC"/>
              </a:rPr>
              <a:t>迁移学习策略价值凸显</a:t>
            </a:r>
            <a:endParaRPr lang="en-US" sz="1100"/>
          </a:p>
          <a:p>
            <a:pPr indent="0" algn="l">
              <a:lnSpc>
                <a:spcPct val="108333"/>
              </a:lnSpc>
              <a:spcBef>
                <a:spcPts val="600"/>
              </a:spcBef>
            </a:pPr>
            <a:r>
              <a:rPr lang="en-US" sz="1300" b="0" i="0" u="none" strike="noStrike">
                <a:solidFill>
                  <a:srgbClr val="666666"/>
                </a:solidFill>
                <a:latin typeface="Noto Sans SC"/>
                <a:ea typeface="Noto Sans SC"/>
                <a:cs typeface="Noto Sans SC"/>
                <a:sym typeface="Noto Sans SC"/>
              </a:rPr>
              <a:t>在数据稀疏的小样本场景下，有效复用预训练知识，展现了良好的场景适应性和泛化能力。</a:t>
            </a:r>
          </a:p>
        </p:txBody>
      </p:sp>
      <p:sp>
        <p:nvSpPr>
          <p:cNvPr id="13" name="AutoShape 13"/>
          <p:cNvSpPr/>
          <p:nvPr/>
        </p:nvSpPr>
        <p:spPr>
          <a:xfrm>
            <a:off x="6223000" y="1778000"/>
            <a:ext cx="5207000" cy="4572000"/>
          </a:xfrm>
          <a:prstGeom prst="roundRect">
            <a:avLst>
              <a:gd name="adj" fmla="val 3333"/>
            </a:avLst>
          </a:prstGeom>
          <a:solidFill>
            <a:srgbClr val="FFFFFF">
              <a:alpha val="100000"/>
            </a:srgbClr>
          </a:solidFill>
          <a:ln w="12700" cap="flat" cmpd="sng">
            <a:solidFill>
              <a:srgbClr val="EEEE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223000" y="1778000"/>
            <a:ext cx="5207000" cy="76200"/>
          </a:xfrm>
          <a:prstGeom prst="roundRect">
            <a:avLst>
              <a:gd name="adj" fmla="val 0"/>
            </a:avLst>
          </a:prstGeom>
          <a:solidFill>
            <a:srgbClr val="D4A5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27800" y="2159000"/>
            <a:ext cx="45974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D4A574"/>
                </a:solidFill>
                <a:latin typeface="Noto Sans SC"/>
                <a:ea typeface="Noto Sans SC"/>
                <a:cs typeface="Noto Sans SC"/>
                <a:sym typeface="Noto Sans SC"/>
              </a:rPr>
              <a:t>未来展望与规划</a:t>
            </a:r>
            <a:endParaRPr lang="en-US" sz="1100"/>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27800" y="3048000"/>
            <a:ext cx="304800" cy="304800"/>
          </a:xfrm>
          <a:prstGeom prst="rect">
            <a:avLst/>
          </a:prstGeom>
        </p:spPr>
      </p:pic>
      <p:sp>
        <p:nvSpPr>
          <p:cNvPr id="17" name="AutoShape 17"/>
          <p:cNvSpPr/>
          <p:nvPr/>
        </p:nvSpPr>
        <p:spPr>
          <a:xfrm>
            <a:off x="6985000" y="2997200"/>
            <a:ext cx="19685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a:ea typeface="Noto Sans SC"/>
                <a:cs typeface="Noto Sans SC"/>
                <a:sym typeface="Noto Sans SC"/>
              </a:rPr>
              <a:t>多语言模型拓展</a:t>
            </a:r>
            <a:endParaRPr lang="en-US" sz="1100"/>
          </a:p>
          <a:p>
            <a:pPr indent="0" algn="l">
              <a:lnSpc>
                <a:spcPct val="108333"/>
              </a:lnSpc>
              <a:spcBef>
                <a:spcPts val="400"/>
              </a:spcBef>
            </a:pPr>
            <a:r>
              <a:rPr lang="en-US" sz="1200" b="0" i="0" u="none" strike="noStrike">
                <a:solidFill>
                  <a:srgbClr val="666666"/>
                </a:solidFill>
                <a:latin typeface="Noto Sans SC"/>
                <a:ea typeface="Noto Sans SC"/>
                <a:cs typeface="Noto Sans SC"/>
                <a:sym typeface="Noto Sans SC"/>
              </a:rPr>
              <a:t>突破语言壁垒，支持跨语言小说识别，以适应国际化市场的需求。</a:t>
            </a: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44000" y="3048000"/>
            <a:ext cx="304800" cy="304800"/>
          </a:xfrm>
          <a:prstGeom prst="rect">
            <a:avLst/>
          </a:prstGeom>
        </p:spPr>
      </p:pic>
      <p:sp>
        <p:nvSpPr>
          <p:cNvPr id="19" name="AutoShape 19"/>
          <p:cNvSpPr/>
          <p:nvPr/>
        </p:nvSpPr>
        <p:spPr>
          <a:xfrm>
            <a:off x="9601200" y="2997200"/>
            <a:ext cx="165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a:ea typeface="Noto Sans SC"/>
                <a:cs typeface="Noto Sans SC"/>
                <a:sym typeface="Noto Sans SC"/>
              </a:rPr>
              <a:t>持续迭代优化</a:t>
            </a:r>
            <a:endParaRPr lang="en-US" sz="1100"/>
          </a:p>
          <a:p>
            <a:pPr indent="0" algn="l">
              <a:lnSpc>
                <a:spcPct val="108333"/>
              </a:lnSpc>
              <a:spcBef>
                <a:spcPts val="400"/>
              </a:spcBef>
            </a:pPr>
            <a:r>
              <a:rPr lang="en-US" sz="1200" b="0" i="0" u="none" strike="noStrike">
                <a:solidFill>
                  <a:srgbClr val="666666"/>
                </a:solidFill>
                <a:latin typeface="Noto Sans SC"/>
                <a:ea typeface="Noto Sans SC"/>
                <a:cs typeface="Noto Sans SC"/>
                <a:sym typeface="Noto Sans SC"/>
              </a:rPr>
              <a:t>建立基于真实用户行为反馈的闭环迭代机制，实现模型的自我进化。</a:t>
            </a:r>
          </a:p>
        </p:txBody>
      </p:sp>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27800" y="4381500"/>
            <a:ext cx="304800" cy="304800"/>
          </a:xfrm>
          <a:prstGeom prst="rect">
            <a:avLst/>
          </a:prstGeom>
        </p:spPr>
      </p:pic>
      <p:sp>
        <p:nvSpPr>
          <p:cNvPr id="21" name="AutoShape 21"/>
          <p:cNvSpPr/>
          <p:nvPr/>
        </p:nvSpPr>
        <p:spPr>
          <a:xfrm>
            <a:off x="6985000" y="4330700"/>
            <a:ext cx="19685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a:ea typeface="Noto Sans SC"/>
                <a:cs typeface="Noto Sans SC"/>
                <a:sym typeface="Noto Sans SC"/>
              </a:rPr>
              <a:t>深度情感分析</a:t>
            </a:r>
            <a:endParaRPr lang="en-US" sz="1100"/>
          </a:p>
          <a:p>
            <a:pPr indent="0" algn="l">
              <a:lnSpc>
                <a:spcPct val="108333"/>
              </a:lnSpc>
              <a:spcBef>
                <a:spcPts val="400"/>
              </a:spcBef>
            </a:pPr>
            <a:r>
              <a:rPr lang="en-US" sz="1200" b="0" i="0" u="none" strike="noStrike">
                <a:solidFill>
                  <a:srgbClr val="666666"/>
                </a:solidFill>
                <a:latin typeface="Noto Sans SC"/>
                <a:ea typeface="Noto Sans SC"/>
                <a:cs typeface="Noto Sans SC"/>
                <a:sym typeface="Noto Sans SC"/>
              </a:rPr>
              <a:t>深入挖掘文本情感色彩，实现更懂人心、更具温度的个性化内容推荐。</a:t>
            </a:r>
          </a:p>
        </p:txBody>
      </p:sp>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44000" y="4381500"/>
            <a:ext cx="304800" cy="304800"/>
          </a:xfrm>
          <a:prstGeom prst="rect">
            <a:avLst/>
          </a:prstGeom>
        </p:spPr>
      </p:pic>
      <p:sp>
        <p:nvSpPr>
          <p:cNvPr id="23" name="AutoShape 23"/>
          <p:cNvSpPr/>
          <p:nvPr/>
        </p:nvSpPr>
        <p:spPr>
          <a:xfrm>
            <a:off x="9601200" y="4330700"/>
            <a:ext cx="165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a:ea typeface="Noto Sans SC"/>
                <a:cs typeface="Noto Sans SC"/>
                <a:sym typeface="Noto Sans SC"/>
              </a:rPr>
              <a:t>外部知识增强</a:t>
            </a:r>
            <a:endParaRPr lang="en-US" sz="1100"/>
          </a:p>
          <a:p>
            <a:pPr indent="0" algn="l">
              <a:lnSpc>
                <a:spcPct val="108333"/>
              </a:lnSpc>
              <a:spcBef>
                <a:spcPts val="400"/>
              </a:spcBef>
            </a:pPr>
            <a:r>
              <a:rPr lang="en-US" sz="1200" b="0" i="0" u="none" strike="noStrike">
                <a:solidFill>
                  <a:srgbClr val="666666"/>
                </a:solidFill>
                <a:latin typeface="Noto Sans SC"/>
                <a:ea typeface="Noto Sans SC"/>
                <a:cs typeface="Noto Sans SC"/>
                <a:sym typeface="Noto Sans SC"/>
              </a:rPr>
              <a:t>融合外部通用知识图谱，增强模型对复杂情节和人物关系的理解深度。</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D4A574"/>
                </a:solidFill>
                <a:latin typeface="Noto Sans SC"/>
                <a:ea typeface="Noto Sans SC"/>
                <a:cs typeface="Noto Sans SC"/>
                <a:sym typeface="Noto Sans SC"/>
              </a:rPr>
              <a:t>Q &amp; A</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感谢聆听</a:t>
            </a:r>
            <a:endParaRPr lang="en-US" sz="1100"/>
          </a:p>
        </p:txBody>
      </p:sp>
      <p:sp>
        <p:nvSpPr>
          <p:cNvPr id="5" name="AutoShape 5"/>
          <p:cNvSpPr/>
          <p:nvPr/>
        </p:nvSpPr>
        <p:spPr>
          <a:xfrm>
            <a:off x="0" y="5334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400">
                <a:solidFill>
                  <a:srgbClr val="FFFFFF">
                    <a:alpha val="70196"/>
                  </a:srgbClr>
                </a:solidFill>
                <a:latin typeface="Noto Sans SC"/>
                <a:ea typeface="Noto Sans SC"/>
                <a:cs typeface="Noto Sans SC"/>
                <a:sym typeface="Noto Sans SC"/>
              </a:rPr>
              <a:t>THANK YOU FOR LISTENING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830</Words>
  <Application>Microsoft Office PowerPoint</Application>
  <PresentationFormat>宽屏</PresentationFormat>
  <Paragraphs>178</Paragraphs>
  <Slides>17</Slides>
  <Notes>17</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17</vt:i4>
      </vt:variant>
    </vt:vector>
  </HeadingPairs>
  <TitlesOfParts>
    <vt:vector size="21"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国涛 何</cp:lastModifiedBy>
  <cp:revision>1</cp:revision>
  <dcterms:modified xsi:type="dcterms:W3CDTF">2026-05-19T09:07:21Z</dcterms:modified>
</cp:coreProperties>
</file>